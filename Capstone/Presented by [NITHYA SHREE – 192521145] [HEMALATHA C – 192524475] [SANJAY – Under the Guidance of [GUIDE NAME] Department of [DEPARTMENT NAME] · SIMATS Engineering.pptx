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0000000000000000000"/>
      <p:regular r:id="rId21"/>
    </p:embeddedFont>
    <p:embeddedFont>
      <p:font typeface="Montserrat Bold" charset="1" panose="00000800000000000000"/>
      <p:regular r:id="rId22"/>
    </p:embeddedFont>
    <p:embeddedFont>
      <p:font typeface="Open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28575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E3D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3000" y="962025"/>
            <a:ext cx="904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CAPSTONE PROJECT  ·  SECURE CODE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2181225"/>
            <a:ext cx="9048750" cy="120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4"/>
              </a:lnSpc>
            </a:pPr>
            <a:r>
              <a:rPr lang="en-US" sz="8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COMPILENS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3390900"/>
            <a:ext cx="885825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Compiler-Based Secure Source Code Analysis Framework for Syntax, Semantic and Runtime Error Detection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717621"/>
            <a:ext cx="8250895" cy="321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Presented by</a:t>
            </a:r>
          </a:p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[NITHYA SHREE  – 192521145]</a:t>
            </a:r>
          </a:p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[HEMALATHA C – 192524475]</a:t>
            </a:r>
          </a:p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[SANJAY –  192521025]</a:t>
            </a: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207"/>
              </a:lnSpc>
            </a:pPr>
          </a:p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 the Guidance of: [Dr. KARTHIKA PRIYA]</a:t>
            </a:r>
          </a:p>
          <a:p>
            <a:pPr algn="l">
              <a:lnSpc>
                <a:spcPts val="3207"/>
              </a:lnSpc>
            </a:pPr>
            <a:r>
              <a:rPr lang="en-US" sz="232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Department of [B.TECH IT &amp; AIDS ]  ·  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052"/>
            <a:ext cx="9802220" cy="55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01  INTRODUCTION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377553"/>
            <a:ext cx="16344900" cy="47625"/>
            <a:chOff x="0" y="0"/>
            <a:chExt cx="21793200" cy="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93200" cy="63500"/>
            </a:xfrm>
            <a:custGeom>
              <a:avLst/>
              <a:gdLst/>
              <a:ahLst/>
              <a:cxnLst/>
              <a:rect r="r" b="b" t="t" l="l"/>
              <a:pathLst>
                <a:path h="63500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932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055958"/>
            <a:ext cx="6858000" cy="142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9"/>
              </a:lnSpc>
            </a:pPr>
            <a:r>
              <a:rPr lang="en-US" sz="5175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program.</a:t>
            </a:r>
          </a:p>
          <a:p>
            <a:pPr algn="l">
              <a:lnSpc>
                <a:spcPts val="5589"/>
              </a:lnSpc>
            </a:pPr>
            <a:r>
              <a:rPr lang="en-US" sz="5175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Many failure points.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0493" y="3830275"/>
            <a:ext cx="9106384" cy="292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8"/>
              </a:lnSpc>
              <a:spcBef>
                <a:spcPct val="0"/>
              </a:spcBef>
            </a:pPr>
            <a:r>
              <a:rPr lang="en-US" sz="2391" strike="noStrike" u="none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• Software errors emerge at different stages of development.</a:t>
            </a:r>
          </a:p>
          <a:p>
            <a:pPr algn="l" marL="0" indent="0" lvl="0">
              <a:lnSpc>
                <a:spcPts val="2988"/>
              </a:lnSpc>
              <a:spcBef>
                <a:spcPct val="0"/>
              </a:spcBef>
            </a:pPr>
            <a:r>
              <a:rPr lang="en-US" sz="2391" strike="noStrike" u="none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• Traditional compilers mainly focus on translation-time checks.</a:t>
            </a:r>
          </a:p>
          <a:p>
            <a:pPr algn="l" marL="0" indent="0" lvl="0">
              <a:lnSpc>
                <a:spcPts val="2988"/>
              </a:lnSpc>
              <a:spcBef>
                <a:spcPct val="0"/>
              </a:spcBef>
            </a:pPr>
            <a:r>
              <a:rPr lang="en-US" sz="2391" strike="noStrike" u="none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• Developers often switch between debuggers, linters, scanners, and runtime tools.</a:t>
            </a:r>
          </a:p>
          <a:p>
            <a:pPr algn="l" marL="0" indent="0" lvl="0">
              <a:lnSpc>
                <a:spcPts val="2988"/>
              </a:lnSpc>
              <a:spcBef>
                <a:spcPct val="0"/>
              </a:spcBef>
            </a:pPr>
            <a:r>
              <a:rPr lang="en-US" sz="2391" strike="noStrike" u="none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• Using multiple tools makes debugging and error identification more complex.</a:t>
            </a:r>
          </a:p>
          <a:p>
            <a:pPr algn="l" marL="0" indent="0" lvl="0">
              <a:lnSpc>
                <a:spcPts val="2988"/>
              </a:lnSpc>
              <a:spcBef>
                <a:spcPct val="0"/>
              </a:spcBef>
            </a:pPr>
            <a:r>
              <a:rPr lang="en-US" sz="2391" strike="noStrike" u="none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• COMPILENS unifies syntax, semantic, security, and runtime analysis in one platform.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7286625"/>
            <a:ext cx="8978570" cy="44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</a:pPr>
            <a:r>
              <a:rPr lang="en-US" sz="2603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unifies these stages in one analysis path.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10605" y="1901428"/>
            <a:ext cx="5715000" cy="1050949"/>
            <a:chOff x="0" y="0"/>
            <a:chExt cx="7620000" cy="1401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0" cy="1401265"/>
            </a:xfrm>
            <a:custGeom>
              <a:avLst/>
              <a:gdLst/>
              <a:ahLst/>
              <a:cxnLst/>
              <a:rect r="r" b="b" t="t" l="l"/>
              <a:pathLst>
                <a:path h="1401265" w="7620000">
                  <a:moveTo>
                    <a:pt x="29633" y="0"/>
                  </a:moveTo>
                  <a:lnTo>
                    <a:pt x="7590367" y="0"/>
                  </a:lnTo>
                  <a:cubicBezTo>
                    <a:pt x="7598226" y="0"/>
                    <a:pt x="7605764" y="3122"/>
                    <a:pt x="7611321" y="8679"/>
                  </a:cubicBezTo>
                  <a:cubicBezTo>
                    <a:pt x="7616878" y="14237"/>
                    <a:pt x="7620000" y="21774"/>
                    <a:pt x="7620000" y="29633"/>
                  </a:cubicBezTo>
                  <a:lnTo>
                    <a:pt x="7620000" y="1371631"/>
                  </a:lnTo>
                  <a:cubicBezTo>
                    <a:pt x="7620000" y="1379491"/>
                    <a:pt x="7616878" y="1387028"/>
                    <a:pt x="7611321" y="1392585"/>
                  </a:cubicBezTo>
                  <a:cubicBezTo>
                    <a:pt x="7605764" y="1398143"/>
                    <a:pt x="7598226" y="1401265"/>
                    <a:pt x="7590367" y="1401265"/>
                  </a:cubicBezTo>
                  <a:lnTo>
                    <a:pt x="29633" y="1401265"/>
                  </a:lnTo>
                  <a:cubicBezTo>
                    <a:pt x="21774" y="1401265"/>
                    <a:pt x="14237" y="1398143"/>
                    <a:pt x="8679" y="1392585"/>
                  </a:cubicBezTo>
                  <a:cubicBezTo>
                    <a:pt x="3122" y="1387028"/>
                    <a:pt x="0" y="1379491"/>
                    <a:pt x="0" y="1371631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7620000" cy="138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SYNTAX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3968105" y="2952376"/>
            <a:ext cx="0" cy="525474"/>
          </a:xfrm>
          <a:prstGeom prst="line">
            <a:avLst/>
          </a:prstGeom>
          <a:ln cap="rnd" w="28575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1110605" y="3668932"/>
            <a:ext cx="5715000" cy="1050949"/>
            <a:chOff x="0" y="0"/>
            <a:chExt cx="7620000" cy="14012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00" cy="1401265"/>
            </a:xfrm>
            <a:custGeom>
              <a:avLst/>
              <a:gdLst/>
              <a:ahLst/>
              <a:cxnLst/>
              <a:rect r="r" b="b" t="t" l="l"/>
              <a:pathLst>
                <a:path h="1401265" w="7620000">
                  <a:moveTo>
                    <a:pt x="29633" y="0"/>
                  </a:moveTo>
                  <a:lnTo>
                    <a:pt x="7590367" y="0"/>
                  </a:lnTo>
                  <a:cubicBezTo>
                    <a:pt x="7598226" y="0"/>
                    <a:pt x="7605764" y="3122"/>
                    <a:pt x="7611321" y="8679"/>
                  </a:cubicBezTo>
                  <a:cubicBezTo>
                    <a:pt x="7616878" y="14237"/>
                    <a:pt x="7620000" y="21774"/>
                    <a:pt x="7620000" y="29633"/>
                  </a:cubicBezTo>
                  <a:lnTo>
                    <a:pt x="7620000" y="1371631"/>
                  </a:lnTo>
                  <a:cubicBezTo>
                    <a:pt x="7620000" y="1379491"/>
                    <a:pt x="7616878" y="1387028"/>
                    <a:pt x="7611321" y="1392585"/>
                  </a:cubicBezTo>
                  <a:cubicBezTo>
                    <a:pt x="7605764" y="1398143"/>
                    <a:pt x="7598226" y="1401265"/>
                    <a:pt x="7590367" y="1401265"/>
                  </a:cubicBezTo>
                  <a:lnTo>
                    <a:pt x="29633" y="1401265"/>
                  </a:lnTo>
                  <a:cubicBezTo>
                    <a:pt x="21774" y="1401265"/>
                    <a:pt x="14237" y="1398143"/>
                    <a:pt x="8679" y="1392585"/>
                  </a:cubicBezTo>
                  <a:cubicBezTo>
                    <a:pt x="3122" y="1387028"/>
                    <a:pt x="0" y="1379491"/>
                    <a:pt x="0" y="1371631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7620000" cy="138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SEMANTIC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3968105" y="4719881"/>
            <a:ext cx="0" cy="525474"/>
          </a:xfrm>
          <a:prstGeom prst="line">
            <a:avLst/>
          </a:prstGeom>
          <a:ln cap="rnd" w="28575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110605" y="5436436"/>
            <a:ext cx="5715000" cy="1050949"/>
            <a:chOff x="0" y="0"/>
            <a:chExt cx="7620000" cy="14012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00" cy="1401265"/>
            </a:xfrm>
            <a:custGeom>
              <a:avLst/>
              <a:gdLst/>
              <a:ahLst/>
              <a:cxnLst/>
              <a:rect r="r" b="b" t="t" l="l"/>
              <a:pathLst>
                <a:path h="1401265" w="7620000">
                  <a:moveTo>
                    <a:pt x="29633" y="0"/>
                  </a:moveTo>
                  <a:lnTo>
                    <a:pt x="7590367" y="0"/>
                  </a:lnTo>
                  <a:cubicBezTo>
                    <a:pt x="7598226" y="0"/>
                    <a:pt x="7605764" y="3122"/>
                    <a:pt x="7611321" y="8679"/>
                  </a:cubicBezTo>
                  <a:cubicBezTo>
                    <a:pt x="7616878" y="14237"/>
                    <a:pt x="7620000" y="21774"/>
                    <a:pt x="7620000" y="29633"/>
                  </a:cubicBezTo>
                  <a:lnTo>
                    <a:pt x="7620000" y="1371631"/>
                  </a:lnTo>
                  <a:cubicBezTo>
                    <a:pt x="7620000" y="1379491"/>
                    <a:pt x="7616878" y="1387028"/>
                    <a:pt x="7611321" y="1392585"/>
                  </a:cubicBezTo>
                  <a:cubicBezTo>
                    <a:pt x="7605764" y="1398143"/>
                    <a:pt x="7598226" y="1401265"/>
                    <a:pt x="7590367" y="1401265"/>
                  </a:cubicBezTo>
                  <a:lnTo>
                    <a:pt x="29633" y="1401265"/>
                  </a:lnTo>
                  <a:cubicBezTo>
                    <a:pt x="21774" y="1401265"/>
                    <a:pt x="14237" y="1398143"/>
                    <a:pt x="8679" y="1392585"/>
                  </a:cubicBezTo>
                  <a:cubicBezTo>
                    <a:pt x="3122" y="1387028"/>
                    <a:pt x="0" y="1379491"/>
                    <a:pt x="0" y="1371631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7620000" cy="138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SECURITY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968105" y="6487385"/>
            <a:ext cx="0" cy="525474"/>
          </a:xfrm>
          <a:prstGeom prst="line">
            <a:avLst/>
          </a:prstGeom>
          <a:ln cap="rnd" w="28575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110605" y="7203941"/>
            <a:ext cx="5715000" cy="1050949"/>
            <a:chOff x="0" y="0"/>
            <a:chExt cx="7620000" cy="14012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00" cy="1401265"/>
            </a:xfrm>
            <a:custGeom>
              <a:avLst/>
              <a:gdLst/>
              <a:ahLst/>
              <a:cxnLst/>
              <a:rect r="r" b="b" t="t" l="l"/>
              <a:pathLst>
                <a:path h="1401265" w="7620000">
                  <a:moveTo>
                    <a:pt x="29633" y="0"/>
                  </a:moveTo>
                  <a:lnTo>
                    <a:pt x="7590367" y="0"/>
                  </a:lnTo>
                  <a:cubicBezTo>
                    <a:pt x="7598226" y="0"/>
                    <a:pt x="7605764" y="3122"/>
                    <a:pt x="7611321" y="8679"/>
                  </a:cubicBezTo>
                  <a:cubicBezTo>
                    <a:pt x="7616878" y="14237"/>
                    <a:pt x="7620000" y="21774"/>
                    <a:pt x="7620000" y="29633"/>
                  </a:cubicBezTo>
                  <a:lnTo>
                    <a:pt x="7620000" y="1371631"/>
                  </a:lnTo>
                  <a:cubicBezTo>
                    <a:pt x="7620000" y="1379491"/>
                    <a:pt x="7616878" y="1387028"/>
                    <a:pt x="7611321" y="1392585"/>
                  </a:cubicBezTo>
                  <a:cubicBezTo>
                    <a:pt x="7605764" y="1398143"/>
                    <a:pt x="7598226" y="1401265"/>
                    <a:pt x="7590367" y="1401265"/>
                  </a:cubicBezTo>
                  <a:lnTo>
                    <a:pt x="29633" y="1401265"/>
                  </a:lnTo>
                  <a:cubicBezTo>
                    <a:pt x="21774" y="1401265"/>
                    <a:pt x="14237" y="1398143"/>
                    <a:pt x="8679" y="1392585"/>
                  </a:cubicBezTo>
                  <a:cubicBezTo>
                    <a:pt x="3122" y="1387028"/>
                    <a:pt x="0" y="1379491"/>
                    <a:pt x="0" y="1371631"/>
                  </a:cubicBezTo>
                  <a:lnTo>
                    <a:pt x="0" y="29633"/>
                  </a:lnTo>
                  <a:cubicBezTo>
                    <a:pt x="0" y="21774"/>
                    <a:pt x="3122" y="14237"/>
                    <a:pt x="8679" y="8679"/>
                  </a:cubicBezTo>
                  <a:cubicBezTo>
                    <a:pt x="14237" y="3122"/>
                    <a:pt x="21774" y="0"/>
                    <a:pt x="29633" y="0"/>
                  </a:cubicBezTo>
                  <a:close/>
                </a:path>
              </a:pathLst>
            </a:custGeom>
            <a:solidFill>
              <a:srgbClr val="4D7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7620000" cy="138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RUNTIME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47675"/>
            <a:ext cx="8572500" cy="5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02  ABSTRACT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895350"/>
            <a:ext cx="16459200" cy="19050"/>
            <a:chOff x="0" y="0"/>
            <a:chExt cx="219456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405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476375"/>
            <a:ext cx="7429500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42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Four analyses.</a:t>
            </a:r>
          </a:p>
          <a:p>
            <a:pPr algn="l">
              <a:lnSpc>
                <a:spcPts val="4617"/>
              </a:lnSpc>
            </a:pPr>
            <a:r>
              <a:rPr lang="en-US" sz="42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compiler-driven lens.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4817" y="3206086"/>
            <a:ext cx="14704478" cy="6020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</a:p>
          <a:p>
            <a:pPr algn="l" marL="832884" indent="-416442" lvl="1">
              <a:lnSpc>
                <a:spcPts val="5323"/>
              </a:lnSpc>
              <a:buFont typeface="Arial"/>
              <a:buChar char="•"/>
            </a:pPr>
            <a:r>
              <a:rPr lang="en-US" sz="38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COMPILENS is a unified framework for secure source code analysis.</a:t>
            </a:r>
          </a:p>
          <a:p>
            <a:pPr algn="l" marL="832884" indent="-416442" lvl="1">
              <a:lnSpc>
                <a:spcPts val="5323"/>
              </a:lnSpc>
              <a:buFont typeface="Arial"/>
              <a:buChar char="•"/>
            </a:pPr>
            <a:r>
              <a:rPr lang="en-US" sz="38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Detects lexical and syntax errors through Module 1.</a:t>
            </a:r>
          </a:p>
          <a:p>
            <a:pPr algn="l" marL="832884" indent="-416442" lvl="1">
              <a:lnSpc>
                <a:spcPts val="5323"/>
              </a:lnSpc>
              <a:buFont typeface="Arial"/>
              <a:buChar char="•"/>
            </a:pPr>
            <a:r>
              <a:rPr lang="en-US" sz="38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Performs semantic and security analysis through Module 2.</a:t>
            </a:r>
          </a:p>
          <a:p>
            <a:pPr algn="l" marL="832884" indent="-416442" lvl="1">
              <a:lnSpc>
                <a:spcPts val="5323"/>
              </a:lnSpc>
              <a:buFont typeface="Arial"/>
              <a:buChar char="•"/>
            </a:pPr>
            <a:r>
              <a:rPr lang="en-US" sz="38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Identifies potential runtime errors through Module 3.</a:t>
            </a:r>
          </a:p>
          <a:p>
            <a:pPr algn="l" marL="832884" indent="-416442" lvl="1">
              <a:lnSpc>
                <a:spcPts val="5323"/>
              </a:lnSpc>
              <a:buFont typeface="Arial"/>
              <a:buChar char="•"/>
            </a:pPr>
            <a:r>
              <a:rPr lang="en-US" sz="385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Integrates all findings into a single analysis report to improve code quality and secure coding.</a:t>
            </a:r>
          </a:p>
          <a:p>
            <a:pPr algn="l">
              <a:lnSpc>
                <a:spcPts val="532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47675"/>
            <a:ext cx="10779690" cy="5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03  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895350"/>
            <a:ext cx="16459200" cy="19050"/>
            <a:chOff x="0" y="0"/>
            <a:chExt cx="219456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486281"/>
            <a:ext cx="10953750" cy="11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toolchain friction</a:t>
            </a:r>
          </a:p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a single analysis surface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201" y="3057525"/>
            <a:ext cx="4165010" cy="46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2822" spc="338" b="true">
                <a:solidFill>
                  <a:srgbClr val="FF55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EXISTING REALITY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3890528"/>
            <a:ext cx="8229600" cy="265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747" indent="-344374" lvl="1">
              <a:lnSpc>
                <a:spcPts val="5423"/>
              </a:lnSpc>
              <a:buFont typeface="Arial"/>
              <a:buChar char="•"/>
            </a:pPr>
            <a:r>
              <a:rPr lang="en-US" sz="319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Different error types</a:t>
            </a:r>
          </a:p>
          <a:p>
            <a:pPr algn="l" marL="688747" indent="-344374" lvl="1">
              <a:lnSpc>
                <a:spcPts val="5423"/>
              </a:lnSpc>
              <a:buFont typeface="Arial"/>
              <a:buChar char="•"/>
            </a:pPr>
            <a:r>
              <a:rPr lang="en-US" sz="319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Fragmented specialist tools</a:t>
            </a:r>
          </a:p>
          <a:p>
            <a:pPr algn="l" marL="688747" indent="-344374" lvl="1">
              <a:lnSpc>
                <a:spcPts val="5423"/>
              </a:lnSpc>
              <a:buFont typeface="Arial"/>
              <a:buChar char="•"/>
            </a:pPr>
            <a:r>
              <a:rPr lang="en-US" sz="319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Delayed debugging feedback</a:t>
            </a:r>
          </a:p>
          <a:p>
            <a:pPr algn="l" marL="688747" indent="-344374" lvl="1">
              <a:lnSpc>
                <a:spcPts val="5423"/>
              </a:lnSpc>
              <a:buFont typeface="Arial"/>
              <a:buChar char="•"/>
            </a:pPr>
            <a:r>
              <a:rPr lang="en-US" sz="319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Security checks outside the compiler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1491" y="2960316"/>
            <a:ext cx="5715000" cy="47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2820" spc="338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5441" y="4012599"/>
            <a:ext cx="7458203" cy="275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386" indent="-357193" lvl="1">
              <a:lnSpc>
                <a:spcPts val="5625"/>
              </a:lnSpc>
              <a:buFont typeface="Arial"/>
              <a:buChar char="•"/>
            </a:pPr>
            <a:r>
              <a:rPr lang="en-US" sz="3308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Integrated compiler framework</a:t>
            </a:r>
          </a:p>
          <a:p>
            <a:pPr algn="l" marL="714386" indent="-357193" lvl="1">
              <a:lnSpc>
                <a:spcPts val="5625"/>
              </a:lnSpc>
              <a:buFont typeface="Arial"/>
              <a:buChar char="•"/>
            </a:pPr>
            <a:r>
              <a:rPr lang="en-US" sz="3308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Syntax + semantic validation</a:t>
            </a:r>
          </a:p>
          <a:p>
            <a:pPr algn="l" marL="714386" indent="-357193" lvl="1">
              <a:lnSpc>
                <a:spcPts val="5625"/>
              </a:lnSpc>
              <a:buFont typeface="Arial"/>
              <a:buChar char="•"/>
            </a:pPr>
            <a:r>
              <a:rPr lang="en-US" sz="3308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Security vulnerability detection</a:t>
            </a:r>
          </a:p>
          <a:p>
            <a:pPr algn="l" marL="714386" indent="-357193" lvl="1">
              <a:lnSpc>
                <a:spcPts val="5625"/>
              </a:lnSpc>
              <a:buFont typeface="Arial"/>
              <a:buChar char="•"/>
            </a:pPr>
            <a:r>
              <a:rPr lang="en-US" sz="3308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Runtime monitoring + one report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7477125"/>
            <a:ext cx="7255880" cy="1299561"/>
            <a:chOff x="0" y="0"/>
            <a:chExt cx="8509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0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8509000">
                  <a:moveTo>
                    <a:pt x="23340" y="0"/>
                  </a:moveTo>
                  <a:lnTo>
                    <a:pt x="8485660" y="0"/>
                  </a:lnTo>
                  <a:cubicBezTo>
                    <a:pt x="8498550" y="0"/>
                    <a:pt x="8509000" y="10450"/>
                    <a:pt x="8509000" y="23340"/>
                  </a:cubicBezTo>
                  <a:lnTo>
                    <a:pt x="8509000" y="1500660"/>
                  </a:lnTo>
                  <a:cubicBezTo>
                    <a:pt x="8509000" y="1513550"/>
                    <a:pt x="8498550" y="1524000"/>
                    <a:pt x="8485660" y="1524000"/>
                  </a:cubicBezTo>
                  <a:lnTo>
                    <a:pt x="23340" y="1524000"/>
                  </a:lnTo>
                  <a:cubicBezTo>
                    <a:pt x="10450" y="1524000"/>
                    <a:pt x="0" y="1513550"/>
                    <a:pt x="0" y="1500660"/>
                  </a:cubicBezTo>
                  <a:lnTo>
                    <a:pt x="0" y="23340"/>
                  </a:lnTo>
                  <a:cubicBezTo>
                    <a:pt x="0" y="10450"/>
                    <a:pt x="10450" y="0"/>
                    <a:pt x="23340" y="0"/>
                  </a:cubicBezTo>
                  <a:close/>
                </a:path>
              </a:pathLst>
            </a:custGeom>
            <a:solidFill>
              <a:srgbClr val="DFE6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509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  <a:r>
                <a:rPr lang="en-US" sz="2499" b="true">
                  <a:solidFill>
                    <a:srgbClr val="10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TOOLS  →  4 DISCONNECTED OUTPUTS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5441" y="7511372"/>
            <a:ext cx="7181227" cy="1231068"/>
            <a:chOff x="0" y="0"/>
            <a:chExt cx="8890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90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8890000">
                  <a:moveTo>
                    <a:pt x="23583" y="0"/>
                  </a:moveTo>
                  <a:lnTo>
                    <a:pt x="8866417" y="0"/>
                  </a:lnTo>
                  <a:cubicBezTo>
                    <a:pt x="8872672" y="0"/>
                    <a:pt x="8878670" y="2485"/>
                    <a:pt x="8883093" y="6907"/>
                  </a:cubicBezTo>
                  <a:cubicBezTo>
                    <a:pt x="8887516" y="11330"/>
                    <a:pt x="8890000" y="17328"/>
                    <a:pt x="8890000" y="23583"/>
                  </a:cubicBezTo>
                  <a:lnTo>
                    <a:pt x="8890000" y="1500417"/>
                  </a:lnTo>
                  <a:cubicBezTo>
                    <a:pt x="8890000" y="1506672"/>
                    <a:pt x="8887516" y="1512670"/>
                    <a:pt x="8883093" y="1517093"/>
                  </a:cubicBezTo>
                  <a:cubicBezTo>
                    <a:pt x="8878670" y="1521515"/>
                    <a:pt x="8872672" y="1524000"/>
                    <a:pt x="8866417" y="1524000"/>
                  </a:cubicBezTo>
                  <a:lnTo>
                    <a:pt x="23583" y="1524000"/>
                  </a:lnTo>
                  <a:cubicBezTo>
                    <a:pt x="17328" y="1524000"/>
                    <a:pt x="11330" y="1521515"/>
                    <a:pt x="6907" y="1517093"/>
                  </a:cubicBezTo>
                  <a:cubicBezTo>
                    <a:pt x="2485" y="1512670"/>
                    <a:pt x="0" y="1506672"/>
                    <a:pt x="0" y="1500417"/>
                  </a:cubicBezTo>
                  <a:lnTo>
                    <a:pt x="0" y="23583"/>
                  </a:lnTo>
                  <a:cubicBezTo>
                    <a:pt x="0" y="17328"/>
                    <a:pt x="2485" y="11330"/>
                    <a:pt x="6907" y="6907"/>
                  </a:cubicBezTo>
                  <a:cubicBezTo>
                    <a:pt x="11330" y="2485"/>
                    <a:pt x="17328" y="0"/>
                    <a:pt x="23583" y="0"/>
                  </a:cubicBezTo>
                  <a:close/>
                </a:path>
              </a:pathLst>
            </a:custGeom>
            <a:solidFill>
              <a:srgbClr val="4D7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8890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4"/>
                </a:lnSpc>
              </a:pPr>
              <a:r>
                <a:rPr lang="en-US" sz="2499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COMPILENS  →  UNIFIED RESULT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8082765" y="8114999"/>
            <a:ext cx="1522218" cy="11906"/>
          </a:xfrm>
          <a:prstGeom prst="line">
            <a:avLst/>
          </a:prstGeom>
          <a:ln cap="rnd" w="47625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47675"/>
            <a:ext cx="9896814" cy="5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04  LITERATURE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120786"/>
            <a:ext cx="16459200" cy="47625"/>
            <a:chOff x="0" y="0"/>
            <a:chExt cx="21945600" cy="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63500"/>
            </a:xfrm>
            <a:custGeom>
              <a:avLst/>
              <a:gdLst/>
              <a:ahLst/>
              <a:cxnLst/>
              <a:rect r="r" b="b" t="t" l="l"/>
              <a:pathLst>
                <a:path h="635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343025"/>
            <a:ext cx="10477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signals—and the gap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29700" y="2571750"/>
            <a:ext cx="19050" cy="6191250"/>
            <a:chOff x="0" y="0"/>
            <a:chExt cx="25400" cy="825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54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562225"/>
            <a:ext cx="7524750" cy="655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Aho et al. (2006)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Compiler phases and formal analysis foundations.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Ayewah et al. (2008)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FindBugs: practical static bug pattern detection.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Lattner &amp; Adve (2004)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LLVM: reusable compiler infrastructure.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Livshits &amp; Lam (2005)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Static detection of security vulnerabilities.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0250" y="2562225"/>
            <a:ext cx="7715250" cy="655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Nethercote &amp; Seward (2007)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Valgrind: dynamic binary instrumentation.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Sadowski et al. (2015)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Large-scale industrial static analysis.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NIST (2022)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SSDF guidance for secure development.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RESEARCH GAP</a:t>
            </a:r>
          </a:p>
          <a:p>
            <a:pPr algn="l">
              <a:lnSpc>
                <a:spcPts val="4001"/>
              </a:lnSpc>
            </a:pPr>
            <a:r>
              <a:rPr lang="en-US" sz="2899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Most approaches isolate one stage; COMPILENS integrates syntax, semantics, security and runtime evidence.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47675"/>
            <a:ext cx="10086002" cy="5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05  PROJECT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8675" y="1395371"/>
            <a:ext cx="16459200" cy="19050"/>
            <a:chOff x="0" y="0"/>
            <a:chExt cx="219456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405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9150" y="1863619"/>
            <a:ext cx="11430000" cy="11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modules. One objective:</a:t>
            </a:r>
          </a:p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trustworthy code.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4333875"/>
            <a:ext cx="4806697" cy="4349774"/>
            <a:chOff x="0" y="0"/>
            <a:chExt cx="6408929" cy="579969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408929" cy="5799699"/>
              <a:chOff x="0" y="0"/>
              <a:chExt cx="6731000" cy="609115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31000" cy="6091153"/>
              </a:xfrm>
              <a:custGeom>
                <a:avLst/>
                <a:gdLst/>
                <a:ahLst/>
                <a:cxnLst/>
                <a:rect r="r" b="b" t="t" l="l"/>
                <a:pathLst>
                  <a:path h="6091153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6091153"/>
                    </a:lnTo>
                    <a:lnTo>
                      <a:pt x="0" y="6091153"/>
                    </a:lnTo>
                    <a:close/>
                  </a:path>
                </a:pathLst>
              </a:custGeom>
              <a:solidFill>
                <a:srgbClr val="0F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31000" cy="61292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59508" y="426543"/>
              <a:ext cx="5683390" cy="606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9"/>
                </a:lnSpc>
              </a:pPr>
              <a:r>
                <a:rPr lang="en-US" sz="2713" spc="325" b="true">
                  <a:solidFill>
                    <a:srgbClr val="20E3D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  PARSE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23231" y="2036131"/>
              <a:ext cx="5802647" cy="2996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6425" indent="-303212" lvl="1">
                <a:lnSpc>
                  <a:spcPts val="4634"/>
                </a:lnSpc>
                <a:buFont typeface="Arial"/>
                <a:buChar char="•"/>
              </a:pPr>
              <a:r>
                <a:rPr lang="en-US" sz="28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Lexical tokenization</a:t>
              </a:r>
            </a:p>
            <a:p>
              <a:pPr algn="l" marL="606425" indent="-303212" lvl="1">
                <a:lnSpc>
                  <a:spcPts val="4634"/>
                </a:lnSpc>
                <a:buFont typeface="Arial"/>
                <a:buChar char="•"/>
              </a:pPr>
              <a:r>
                <a:rPr lang="en-US" sz="28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Syntax error detection</a:t>
              </a:r>
            </a:p>
            <a:p>
              <a:pPr algn="l" marL="606425" indent="-303212" lvl="1">
                <a:lnSpc>
                  <a:spcPts val="4634"/>
                </a:lnSpc>
                <a:buFont typeface="Arial"/>
                <a:buChar char="•"/>
              </a:pPr>
              <a:r>
                <a:rPr lang="en-US" sz="2808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Precise source locations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34150" y="4333875"/>
            <a:ext cx="5048250" cy="4227699"/>
            <a:chOff x="0" y="0"/>
            <a:chExt cx="6731000" cy="563693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731000" cy="5636932"/>
              <a:chOff x="0" y="0"/>
              <a:chExt cx="6731000" cy="563693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731000" cy="5636932"/>
              </a:xfrm>
              <a:custGeom>
                <a:avLst/>
                <a:gdLst/>
                <a:ahLst/>
                <a:cxnLst/>
                <a:rect r="r" b="b" t="t" l="l"/>
                <a:pathLst>
                  <a:path h="5636932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636932"/>
                    </a:lnTo>
                    <a:lnTo>
                      <a:pt x="0" y="5636932"/>
                    </a:lnTo>
                    <a:close/>
                  </a:path>
                </a:pathLst>
              </a:custGeom>
              <a:solidFill>
                <a:srgbClr val="12305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731000" cy="56750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2600" y="450850"/>
              <a:ext cx="5969000" cy="600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2709" spc="325" b="true">
                  <a:solidFill>
                    <a:srgbClr val="20E3D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  VERIFY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82600" y="1564301"/>
              <a:ext cx="5842000" cy="299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Semantic validation</a:t>
              </a:r>
            </a:p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Security vulnerability detection</a:t>
              </a:r>
            </a:p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Actionable diagnostics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53900" y="4333875"/>
            <a:ext cx="5048250" cy="4209577"/>
            <a:chOff x="0" y="0"/>
            <a:chExt cx="6731000" cy="561277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731000" cy="5612770"/>
              <a:chOff x="0" y="0"/>
              <a:chExt cx="6731000" cy="561277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31000" cy="5612770"/>
              </a:xfrm>
              <a:custGeom>
                <a:avLst/>
                <a:gdLst/>
                <a:ahLst/>
                <a:cxnLst/>
                <a:rect r="r" b="b" t="t" l="l"/>
                <a:pathLst>
                  <a:path h="561277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612770"/>
                    </a:lnTo>
                    <a:lnTo>
                      <a:pt x="0" y="5612770"/>
                    </a:lnTo>
                    <a:close/>
                  </a:path>
                </a:pathLst>
              </a:custGeom>
              <a:solidFill>
                <a:srgbClr val="0F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6731000" cy="56508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82600" y="450850"/>
              <a:ext cx="5969000" cy="600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3"/>
                </a:lnSpc>
              </a:pPr>
              <a:r>
                <a:rPr lang="en-US" sz="2709" spc="325" b="true">
                  <a:solidFill>
                    <a:srgbClr val="20E3D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  OBSERVE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1564301"/>
              <a:ext cx="5799958" cy="3773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Runtime error detection</a:t>
              </a:r>
            </a:p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Cross-stage correlation</a:t>
              </a:r>
            </a:p>
            <a:p>
              <a:pPr algn="l" marL="606680" indent="-303340" lvl="1">
                <a:lnSpc>
                  <a:spcPts val="4636"/>
                </a:lnSpc>
                <a:buFont typeface="Arial"/>
                <a:buChar char="•"/>
              </a:pPr>
              <a:r>
                <a:rPr lang="en-US" sz="281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Unified reporting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028700"/>
            <a:ext cx="16459200" cy="19050"/>
            <a:chOff x="0" y="0"/>
            <a:chExt cx="219456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4476750"/>
            <a:ext cx="2190750" cy="1238250"/>
            <a:chOff x="0" y="0"/>
            <a:chExt cx="2921000" cy="165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2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573696"/>
                  </a:lnTo>
                  <a:cubicBezTo>
                    <a:pt x="2921000" y="1594198"/>
                    <a:pt x="2912856" y="1613861"/>
                    <a:pt x="2898358" y="1628358"/>
                  </a:cubicBezTo>
                  <a:cubicBezTo>
                    <a:pt x="2883861" y="1642856"/>
                    <a:pt x="2864198" y="1651000"/>
                    <a:pt x="2843696" y="1651000"/>
                  </a:cubicBezTo>
                  <a:lnTo>
                    <a:pt x="77304" y="1651000"/>
                  </a:lnTo>
                  <a:cubicBezTo>
                    <a:pt x="56802" y="1651000"/>
                    <a:pt x="37139" y="1642856"/>
                    <a:pt x="22642" y="1628358"/>
                  </a:cubicBezTo>
                  <a:cubicBezTo>
                    <a:pt x="8145" y="1613861"/>
                    <a:pt x="0" y="1594198"/>
                    <a:pt x="0" y="1573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92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SOURCE CODE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INPUT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3143250" y="5095875"/>
            <a:ext cx="628650" cy="0"/>
          </a:xfrm>
          <a:prstGeom prst="line">
            <a:avLst/>
          </a:prstGeom>
          <a:ln cap="rnd" w="38100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000500" y="4476750"/>
            <a:ext cx="2190750" cy="1238250"/>
            <a:chOff x="0" y="0"/>
            <a:chExt cx="292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2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573696"/>
                  </a:lnTo>
                  <a:cubicBezTo>
                    <a:pt x="2921000" y="1594198"/>
                    <a:pt x="2912856" y="1613861"/>
                    <a:pt x="2898358" y="1628358"/>
                  </a:cubicBezTo>
                  <a:cubicBezTo>
                    <a:pt x="2883861" y="1642856"/>
                    <a:pt x="2864198" y="1651000"/>
                    <a:pt x="2843696" y="1651000"/>
                  </a:cubicBezTo>
                  <a:lnTo>
                    <a:pt x="77304" y="1651000"/>
                  </a:lnTo>
                  <a:cubicBezTo>
                    <a:pt x="56802" y="1651000"/>
                    <a:pt x="37139" y="1642856"/>
                    <a:pt x="22642" y="1628358"/>
                  </a:cubicBezTo>
                  <a:cubicBezTo>
                    <a:pt x="8145" y="1613861"/>
                    <a:pt x="0" y="1594198"/>
                    <a:pt x="0" y="1573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92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COMPILENS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ENGINE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191250" y="5095875"/>
            <a:ext cx="1200150" cy="0"/>
          </a:xfrm>
          <a:prstGeom prst="line">
            <a:avLst/>
          </a:prstGeom>
          <a:ln cap="rnd" w="38100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620000" y="4476750"/>
            <a:ext cx="2571750" cy="1714500"/>
            <a:chOff x="0" y="0"/>
            <a:chExt cx="34290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29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429000">
                  <a:moveTo>
                    <a:pt x="65852" y="0"/>
                  </a:moveTo>
                  <a:lnTo>
                    <a:pt x="3363148" y="0"/>
                  </a:lnTo>
                  <a:cubicBezTo>
                    <a:pt x="3399517" y="0"/>
                    <a:pt x="3429000" y="29483"/>
                    <a:pt x="3429000" y="65852"/>
                  </a:cubicBezTo>
                  <a:lnTo>
                    <a:pt x="3429000" y="2220148"/>
                  </a:lnTo>
                  <a:cubicBezTo>
                    <a:pt x="3429000" y="2256517"/>
                    <a:pt x="3399517" y="2286000"/>
                    <a:pt x="3363148" y="2286000"/>
                  </a:cubicBezTo>
                  <a:lnTo>
                    <a:pt x="65852" y="2286000"/>
                  </a:lnTo>
                  <a:cubicBezTo>
                    <a:pt x="29483" y="2286000"/>
                    <a:pt x="0" y="2256517"/>
                    <a:pt x="0" y="2220148"/>
                  </a:cubicBezTo>
                  <a:lnTo>
                    <a:pt x="0" y="65852"/>
                  </a:lnTo>
                  <a:cubicBezTo>
                    <a:pt x="0" y="29483"/>
                    <a:pt x="29483" y="0"/>
                    <a:pt x="65852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429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M1  SYNTAX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M2  SEMANTIC + SECURITY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M3  RUNTIME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191750" y="5095875"/>
            <a:ext cx="247650" cy="0"/>
          </a:xfrm>
          <a:prstGeom prst="line">
            <a:avLst/>
          </a:prstGeom>
          <a:ln cap="rnd" w="38100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668000" y="4476750"/>
            <a:ext cx="2190750" cy="1238250"/>
            <a:chOff x="0" y="0"/>
            <a:chExt cx="29210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573696"/>
                  </a:lnTo>
                  <a:cubicBezTo>
                    <a:pt x="2921000" y="1594198"/>
                    <a:pt x="2912856" y="1613861"/>
                    <a:pt x="2898358" y="1628358"/>
                  </a:cubicBezTo>
                  <a:cubicBezTo>
                    <a:pt x="2883861" y="1642856"/>
                    <a:pt x="2864198" y="1651000"/>
                    <a:pt x="2843696" y="1651000"/>
                  </a:cubicBezTo>
                  <a:lnTo>
                    <a:pt x="77304" y="1651000"/>
                  </a:lnTo>
                  <a:cubicBezTo>
                    <a:pt x="56802" y="1651000"/>
                    <a:pt x="37139" y="1642856"/>
                    <a:pt x="22642" y="1628358"/>
                  </a:cubicBezTo>
                  <a:cubicBezTo>
                    <a:pt x="8145" y="1613861"/>
                    <a:pt x="0" y="1594198"/>
                    <a:pt x="0" y="1573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0F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292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INTEGRATED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RESULTS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2858750" y="5095875"/>
            <a:ext cx="1200150" cy="0"/>
          </a:xfrm>
          <a:prstGeom prst="line">
            <a:avLst/>
          </a:prstGeom>
          <a:ln cap="rnd" w="38100">
            <a:solidFill>
              <a:srgbClr val="20E3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287500" y="4476750"/>
            <a:ext cx="2190750" cy="1238250"/>
            <a:chOff x="0" y="0"/>
            <a:chExt cx="2921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921000">
                  <a:moveTo>
                    <a:pt x="77304" y="0"/>
                  </a:moveTo>
                  <a:lnTo>
                    <a:pt x="2843696" y="0"/>
                  </a:lnTo>
                  <a:cubicBezTo>
                    <a:pt x="2864198" y="0"/>
                    <a:pt x="2883861" y="8145"/>
                    <a:pt x="2898358" y="22642"/>
                  </a:cubicBezTo>
                  <a:cubicBezTo>
                    <a:pt x="2912856" y="37139"/>
                    <a:pt x="2921000" y="56802"/>
                    <a:pt x="2921000" y="77304"/>
                  </a:cubicBezTo>
                  <a:lnTo>
                    <a:pt x="2921000" y="1573696"/>
                  </a:lnTo>
                  <a:cubicBezTo>
                    <a:pt x="2921000" y="1594198"/>
                    <a:pt x="2912856" y="1613861"/>
                    <a:pt x="2898358" y="1628358"/>
                  </a:cubicBezTo>
                  <a:cubicBezTo>
                    <a:pt x="2883861" y="1642856"/>
                    <a:pt x="2864198" y="1651000"/>
                    <a:pt x="2843696" y="1651000"/>
                  </a:cubicBezTo>
                  <a:lnTo>
                    <a:pt x="77304" y="1651000"/>
                  </a:lnTo>
                  <a:cubicBezTo>
                    <a:pt x="56802" y="1651000"/>
                    <a:pt x="37139" y="1642856"/>
                    <a:pt x="22642" y="1628358"/>
                  </a:cubicBezTo>
                  <a:cubicBezTo>
                    <a:pt x="8145" y="1613861"/>
                    <a:pt x="0" y="1594198"/>
                    <a:pt x="0" y="1573696"/>
                  </a:cubicBezTo>
                  <a:lnTo>
                    <a:pt x="0" y="77304"/>
                  </a:lnTo>
                  <a:cubicBezTo>
                    <a:pt x="0" y="56802"/>
                    <a:pt x="8145" y="37139"/>
                    <a:pt x="22642" y="22642"/>
                  </a:cubicBezTo>
                  <a:cubicBezTo>
                    <a:pt x="37139" y="8145"/>
                    <a:pt x="56802" y="0"/>
                    <a:pt x="77304" y="0"/>
                  </a:cubicBezTo>
                  <a:close/>
                </a:path>
              </a:pathLst>
            </a:custGeom>
            <a:solidFill>
              <a:srgbClr val="4D7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2921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ERROR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REPORT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9106" y="2819019"/>
            <a:ext cx="17818125" cy="6056090"/>
          </a:xfrm>
          <a:custGeom>
            <a:avLst/>
            <a:gdLst/>
            <a:ahLst/>
            <a:cxnLst/>
            <a:rect r="r" b="b" t="t" l="l"/>
            <a:pathLst>
              <a:path h="6056090" w="17818125">
                <a:moveTo>
                  <a:pt x="0" y="0"/>
                </a:moveTo>
                <a:lnTo>
                  <a:pt x="17818125" y="0"/>
                </a:lnTo>
                <a:lnTo>
                  <a:pt x="17818125" y="6056090"/>
                </a:lnTo>
                <a:lnTo>
                  <a:pt x="0" y="605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54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14400" y="447675"/>
            <a:ext cx="10848975" cy="55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249" spc="38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06  SYSTEM 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1343025"/>
            <a:ext cx="9525000" cy="11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flows forward.</a:t>
            </a:r>
          </a:p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 comes together.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9113234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FEATURES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9646634"/>
            <a:ext cx="15716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M1  Tokens + grammar   ·   M2  Types + vulnerabilities   ·   M3  Runtime events + correlation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E3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1697" y="4391214"/>
            <a:ext cx="9475094" cy="5619915"/>
          </a:xfrm>
          <a:custGeom>
            <a:avLst/>
            <a:gdLst/>
            <a:ahLst/>
            <a:cxnLst/>
            <a:rect r="r" b="b" t="t" l="l"/>
            <a:pathLst>
              <a:path h="5619915" w="9475094">
                <a:moveTo>
                  <a:pt x="0" y="0"/>
                </a:moveTo>
                <a:lnTo>
                  <a:pt x="9475094" y="0"/>
                </a:lnTo>
                <a:lnTo>
                  <a:pt x="9475094" y="5619915"/>
                </a:lnTo>
                <a:lnTo>
                  <a:pt x="0" y="5619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79559" y="3426286"/>
            <a:ext cx="7402640" cy="6584843"/>
          </a:xfrm>
          <a:custGeom>
            <a:avLst/>
            <a:gdLst/>
            <a:ahLst/>
            <a:cxnLst/>
            <a:rect r="r" b="b" t="t" l="l"/>
            <a:pathLst>
              <a:path h="6584843" w="7402640">
                <a:moveTo>
                  <a:pt x="0" y="0"/>
                </a:moveTo>
                <a:lnTo>
                  <a:pt x="7402640" y="0"/>
                </a:lnTo>
                <a:lnTo>
                  <a:pt x="7402640" y="6584843"/>
                </a:lnTo>
                <a:lnTo>
                  <a:pt x="0" y="6584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77" r="0" b="-57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1697" y="606455"/>
            <a:ext cx="6667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5412" y="411068"/>
            <a:ext cx="12868160" cy="9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Lexical &amp; Syntax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697" y="1787376"/>
            <a:ext cx="9475094" cy="215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133" indent="-265567" lvl="1">
              <a:lnSpc>
                <a:spcPts val="3444"/>
              </a:lnSpc>
              <a:buFont typeface="Arial"/>
              <a:buChar char="•"/>
            </a:pPr>
            <a:r>
              <a:rPr lang="en-US" b="true" sz="24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Accepts and processes the source code input.</a:t>
            </a:r>
          </a:p>
          <a:p>
            <a:pPr algn="l" marL="531133" indent="-265567" lvl="1">
              <a:lnSpc>
                <a:spcPts val="3444"/>
              </a:lnSpc>
              <a:buFont typeface="Arial"/>
              <a:buChar char="•"/>
            </a:pPr>
            <a:r>
              <a:rPr lang="en-US" b="true" sz="24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Breaks the code into tokens using lexical analysis.</a:t>
            </a:r>
          </a:p>
          <a:p>
            <a:pPr algn="l" marL="531133" indent="-265567" lvl="1">
              <a:lnSpc>
                <a:spcPts val="3444"/>
              </a:lnSpc>
              <a:buFont typeface="Arial"/>
              <a:buChar char="•"/>
            </a:pPr>
            <a:r>
              <a:rPr lang="en-US" b="true" sz="24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invalid characters and lexical errors.</a:t>
            </a:r>
          </a:p>
          <a:p>
            <a:pPr algn="l" marL="531133" indent="-265567" lvl="1">
              <a:lnSpc>
                <a:spcPts val="3444"/>
              </a:lnSpc>
              <a:buFont typeface="Arial"/>
              <a:buChar char="•"/>
            </a:pPr>
            <a:r>
              <a:rPr lang="en-US" b="true" sz="24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Validates program structure using syntax analysis.</a:t>
            </a:r>
          </a:p>
          <a:p>
            <a:pPr algn="l" marL="531133" indent="-265567" lvl="1">
              <a:lnSpc>
                <a:spcPts val="3444"/>
              </a:lnSpc>
              <a:buFont typeface="Arial"/>
              <a:buChar char="•"/>
            </a:pPr>
            <a:r>
              <a:rPr lang="en-US" b="true" sz="24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Detects and reports syntax and grammatical errors.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D7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0415" y="3636886"/>
            <a:ext cx="9838790" cy="5749543"/>
          </a:xfrm>
          <a:custGeom>
            <a:avLst/>
            <a:gdLst/>
            <a:ahLst/>
            <a:cxnLst/>
            <a:rect r="r" b="b" t="t" l="l"/>
            <a:pathLst>
              <a:path h="5749543" w="9838790">
                <a:moveTo>
                  <a:pt x="0" y="0"/>
                </a:moveTo>
                <a:lnTo>
                  <a:pt x="9838790" y="0"/>
                </a:lnTo>
                <a:lnTo>
                  <a:pt x="9838790" y="5749543"/>
                </a:lnTo>
                <a:lnTo>
                  <a:pt x="0" y="574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5546" y="363617"/>
            <a:ext cx="6667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9788" y="53756"/>
            <a:ext cx="14486691" cy="97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7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Semantic &amp; Security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5578" y="1429943"/>
            <a:ext cx="9928465" cy="181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09" indent="-273805" lvl="1">
              <a:lnSpc>
                <a:spcPts val="2916"/>
              </a:lnSpc>
              <a:buFont typeface="Arial"/>
              <a:buChar char="•"/>
            </a:pPr>
            <a:r>
              <a:rPr lang="en-US" b="true" sz="25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Checks the logical meaning of the source code.</a:t>
            </a:r>
          </a:p>
          <a:p>
            <a:pPr algn="l" marL="547609" indent="-273805" lvl="1">
              <a:lnSpc>
                <a:spcPts val="2916"/>
              </a:lnSpc>
              <a:buFont typeface="Arial"/>
              <a:buChar char="•"/>
            </a:pPr>
            <a:r>
              <a:rPr lang="en-US" b="true" sz="25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Performs type and declaration validation.</a:t>
            </a:r>
          </a:p>
          <a:p>
            <a:pPr algn="l" marL="547609" indent="-273805" lvl="1">
              <a:lnSpc>
                <a:spcPts val="2916"/>
              </a:lnSpc>
              <a:buFont typeface="Arial"/>
              <a:buChar char="•"/>
            </a:pPr>
            <a:r>
              <a:rPr lang="en-US" b="true" sz="25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semantic inconsistencies and errors.</a:t>
            </a:r>
          </a:p>
          <a:p>
            <a:pPr algn="l" marL="547609" indent="-273805" lvl="1">
              <a:lnSpc>
                <a:spcPts val="2916"/>
              </a:lnSpc>
              <a:buFont typeface="Arial"/>
              <a:buChar char="•"/>
            </a:pPr>
            <a:r>
              <a:rPr lang="en-US" b="true" sz="25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Detects selected security vulnerabilities.</a:t>
            </a:r>
          </a:p>
          <a:p>
            <a:pPr algn="l" marL="547609" indent="-273805" lvl="1">
              <a:lnSpc>
                <a:spcPts val="2916"/>
              </a:lnSpc>
              <a:buFont typeface="Arial"/>
              <a:buChar char="•"/>
            </a:pPr>
            <a:r>
              <a:rPr lang="en-US" b="true" sz="25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secure coding suggestions and best practices.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713723" y="2814310"/>
            <a:ext cx="7175207" cy="6572119"/>
          </a:xfrm>
          <a:custGeom>
            <a:avLst/>
            <a:gdLst/>
            <a:ahLst/>
            <a:cxnLst/>
            <a:rect r="r" b="b" t="t" l="l"/>
            <a:pathLst>
              <a:path h="6572119" w="7175207">
                <a:moveTo>
                  <a:pt x="0" y="0"/>
                </a:moveTo>
                <a:lnTo>
                  <a:pt x="7175207" y="0"/>
                </a:lnTo>
                <a:lnTo>
                  <a:pt x="7175207" y="6572119"/>
                </a:lnTo>
                <a:lnTo>
                  <a:pt x="0" y="6572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557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9657" y="4505390"/>
            <a:ext cx="9353858" cy="5627407"/>
          </a:xfrm>
          <a:custGeom>
            <a:avLst/>
            <a:gdLst/>
            <a:ahLst/>
            <a:cxnLst/>
            <a:rect r="r" b="b" t="t" l="l"/>
            <a:pathLst>
              <a:path h="5627407" w="9353858">
                <a:moveTo>
                  <a:pt x="0" y="0"/>
                </a:moveTo>
                <a:lnTo>
                  <a:pt x="9353858" y="0"/>
                </a:lnTo>
                <a:lnTo>
                  <a:pt x="9353858" y="5627408"/>
                </a:lnTo>
                <a:lnTo>
                  <a:pt x="0" y="562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6" t="0" r="-114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9657" y="312228"/>
            <a:ext cx="6667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4101" y="251819"/>
            <a:ext cx="15633899" cy="164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Runtime Error Detection &amp; Integrated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221" y="2009920"/>
            <a:ext cx="13749872" cy="22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b="true" sz="2540" spc="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Analyses potential errors that may occur during execution.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b="true" sz="2540" spc="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common runtime error patterns.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b="true" sz="2540" spc="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Collects findings from all three analysis stages.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b="true" sz="2540" spc="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Removes duplicate findings and prioritizes errors.</a:t>
            </a:r>
          </a:p>
          <a:p>
            <a:pPr algn="l" marL="548387" indent="-274193" lvl="1">
              <a:lnSpc>
                <a:spcPts val="3556"/>
              </a:lnSpc>
              <a:buFont typeface="Arial"/>
              <a:buChar char="•"/>
            </a:pPr>
            <a:r>
              <a:rPr lang="en-US" b="true" sz="2540" spc="3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Generates an integrated analysis report with recommendations.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95938" y="4383825"/>
            <a:ext cx="7502673" cy="5748973"/>
          </a:xfrm>
          <a:custGeom>
            <a:avLst/>
            <a:gdLst/>
            <a:ahLst/>
            <a:cxnLst/>
            <a:rect r="r" b="b" t="t" l="l"/>
            <a:pathLst>
              <a:path h="5748973" w="7502673">
                <a:moveTo>
                  <a:pt x="0" y="0"/>
                </a:moveTo>
                <a:lnTo>
                  <a:pt x="7502674" y="0"/>
                </a:lnTo>
                <a:lnTo>
                  <a:pt x="7502674" y="5748973"/>
                </a:lnTo>
                <a:lnTo>
                  <a:pt x="0" y="5748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1054085"/>
            <a:ext cx="16459200" cy="19050"/>
            <a:chOff x="0" y="0"/>
            <a:chExt cx="219456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1238250"/>
            <a:ext cx="7143750" cy="4223742"/>
          </a:xfrm>
          <a:custGeom>
            <a:avLst/>
            <a:gdLst/>
            <a:ahLst/>
            <a:cxnLst/>
            <a:rect r="r" b="b" t="t" l="l"/>
            <a:pathLst>
              <a:path h="4223742" w="7143750">
                <a:moveTo>
                  <a:pt x="0" y="0"/>
                </a:moveTo>
                <a:lnTo>
                  <a:pt x="7143750" y="0"/>
                </a:lnTo>
                <a:lnTo>
                  <a:pt x="7143750" y="4223742"/>
                </a:lnTo>
                <a:lnTo>
                  <a:pt x="0" y="4223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5726732"/>
            <a:ext cx="7145114" cy="4130769"/>
          </a:xfrm>
          <a:custGeom>
            <a:avLst/>
            <a:gdLst/>
            <a:ahLst/>
            <a:cxnLst/>
            <a:rect r="r" b="b" t="t" l="l"/>
            <a:pathLst>
              <a:path h="4130769" w="7145114">
                <a:moveTo>
                  <a:pt x="0" y="0"/>
                </a:moveTo>
                <a:lnTo>
                  <a:pt x="7145114" y="0"/>
                </a:lnTo>
                <a:lnTo>
                  <a:pt x="7145114" y="4130769"/>
                </a:lnTo>
                <a:lnTo>
                  <a:pt x="0" y="4130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" y="466725"/>
            <a:ext cx="8572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07 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16926"/>
            <a:ext cx="8191500" cy="11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unified result,</a:t>
            </a:r>
          </a:p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 another tool window.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51122"/>
            <a:ext cx="6946541" cy="1974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2861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Multi-stage analysis identifies syntax, semantic, security and runtime issues, then categorizes findings in a single reporting surface.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810238"/>
            <a:ext cx="7423613" cy="144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824" b="true">
                <a:solidFill>
                  <a:srgbClr val="1020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OUTCOME</a:t>
            </a:r>
          </a:p>
          <a:p>
            <a:pPr algn="l">
              <a:lnSpc>
                <a:spcPts val="3897"/>
              </a:lnSpc>
            </a:pPr>
            <a:r>
              <a:rPr lang="en-US" sz="2824" b="true">
                <a:solidFill>
                  <a:srgbClr val="1020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Compiler principles + security analysis + runtime evidence in one framework.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537" y="1467068"/>
            <a:ext cx="16459200" cy="19050"/>
            <a:chOff x="0" y="0"/>
            <a:chExt cx="21945600" cy="2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405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983477" y="1777351"/>
            <a:ext cx="5488749" cy="7991080"/>
          </a:xfrm>
          <a:custGeom>
            <a:avLst/>
            <a:gdLst/>
            <a:ahLst/>
            <a:cxnLst/>
            <a:rect r="r" b="b" t="t" l="l"/>
            <a:pathLst>
              <a:path h="7991080" w="5488749">
                <a:moveTo>
                  <a:pt x="0" y="0"/>
                </a:moveTo>
                <a:lnTo>
                  <a:pt x="5488749" y="0"/>
                </a:lnTo>
                <a:lnTo>
                  <a:pt x="5488749" y="7991080"/>
                </a:lnTo>
                <a:lnTo>
                  <a:pt x="0" y="799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30" r="0" b="-543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537" y="567651"/>
            <a:ext cx="8572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08 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9537" y="2779203"/>
            <a:ext cx="7239000" cy="158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lens for</a:t>
            </a:r>
          </a:p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safer software.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537" y="5715741"/>
            <a:ext cx="10714925" cy="324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375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COMPILENS brings three coordinated modules into one source-code analysis workflow—improving code quality, identifying issues earlier and reducing the distance between detection and resolution.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6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466725"/>
            <a:ext cx="8572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09 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" y="895350"/>
            <a:ext cx="16459200" cy="19050"/>
            <a:chOff x="0" y="0"/>
            <a:chExt cx="219456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4405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1447800"/>
            <a:ext cx="8096250" cy="144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framework</a:t>
            </a:r>
          </a:p>
          <a:p>
            <a:pPr algn="l">
              <a:lnSpc>
                <a:spcPts val="567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intelligent platform.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3119" y="3693138"/>
            <a:ext cx="15789206" cy="354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601" indent="-372801" lvl="1">
              <a:lnSpc>
                <a:spcPts val="5698"/>
              </a:lnSpc>
              <a:buFont typeface="Arial"/>
              <a:buChar char="•"/>
            </a:pPr>
            <a:r>
              <a:rPr lang="en-US" sz="34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Multi-language support  ·  IDE integration</a:t>
            </a:r>
          </a:p>
          <a:p>
            <a:pPr algn="l" marL="745601" indent="-372801" lvl="1">
              <a:lnSpc>
                <a:spcPts val="5698"/>
              </a:lnSpc>
              <a:buFont typeface="Arial"/>
              <a:buChar char="•"/>
            </a:pPr>
            <a:r>
              <a:rPr lang="en-US" sz="34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AI-powered explanations  ·  Automatic corrections</a:t>
            </a:r>
          </a:p>
          <a:p>
            <a:pPr algn="l" marL="745601" indent="-372801" lvl="1">
              <a:lnSpc>
                <a:spcPts val="5698"/>
              </a:lnSpc>
              <a:buFont typeface="Arial"/>
              <a:buChar char="•"/>
            </a:pPr>
            <a:r>
              <a:rPr lang="en-US" sz="34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Advanced vulnerability detection  ·  ML error prediction</a:t>
            </a:r>
          </a:p>
          <a:p>
            <a:pPr algn="l" marL="745601" indent="-372801" lvl="1">
              <a:lnSpc>
                <a:spcPts val="5698"/>
              </a:lnSpc>
              <a:buFont typeface="Arial"/>
              <a:buChar char="•"/>
            </a:pPr>
            <a:r>
              <a:rPr lang="en-US" sz="34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Real-time analysis  ·  Cloud collaboration</a:t>
            </a:r>
          </a:p>
          <a:p>
            <a:pPr algn="l" marL="745601" indent="-372801" lvl="1">
              <a:lnSpc>
                <a:spcPts val="5698"/>
              </a:lnSpc>
              <a:buFont typeface="Arial"/>
              <a:buChar char="•"/>
            </a:pPr>
            <a:r>
              <a:rPr lang="en-US" sz="345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Runtime monitoring  ·  GitHub + CI/CD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534400"/>
            <a:ext cx="1143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  /  An AI-powered, multi-language secure development companion.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66725"/>
            <a:ext cx="8572500" cy="4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4D7C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COMPILENS  /  10  REFERENCES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1221687"/>
            <a:ext cx="16459200" cy="19050"/>
            <a:chOff x="0" y="0"/>
            <a:chExt cx="219456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31946" y="1878912"/>
            <a:ext cx="8572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0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Selected foundations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1946" y="2953014"/>
            <a:ext cx="16624109" cy="427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1. Aho, A. V. et al. (2006). Compilers: Principles, Techniques, and Tools. Pearson.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2. Ayewah, N. et al. (2008). Using static analysis to find bugs. IEEE Software, 25(5).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3. Lattner, C., &amp; Adve, V. (2004). LLVM: A compilation framework. CGO.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4. Livshits, V., &amp; Lam, M. (2005). Finding security vulnerabilities in Java. USENIX Security.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5. Nethercote, N., &amp; Seward, J. (2007). Valgrind. PLDI.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6. Sadowski, C. et al. (2015). Tricorder: Building a program analysis ecosystem. ICSE.</a:t>
            </a:r>
          </a:p>
          <a:p>
            <a:pPr algn="l">
              <a:lnSpc>
                <a:spcPts val="4876"/>
              </a:lnSpc>
            </a:pPr>
            <a:r>
              <a:rPr lang="en-US" sz="3145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7. NIST. (2022). Secure Software Development Framework (SSDF), SP 800-218.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7953375"/>
            <a:ext cx="16459200" cy="19050"/>
            <a:chOff x="0" y="0"/>
            <a:chExt cx="219456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8362950"/>
            <a:ext cx="15240000" cy="60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102033"/>
                </a:solidFill>
                <a:latin typeface="Open Sans"/>
                <a:ea typeface="Open Sans"/>
                <a:cs typeface="Open Sans"/>
                <a:sym typeface="Open Sans"/>
              </a:rPr>
              <a:t>Together, these works support combined static, semantic, security and dynamic analysis—while highlighting practical concerns such as scalability and false positives.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1771650"/>
            <a:ext cx="18288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98">
                <a:solidFill>
                  <a:srgbClr val="20E3D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 &amp; 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3228975"/>
            <a:ext cx="15240000" cy="120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4"/>
              </a:lnSpc>
            </a:pPr>
            <a:r>
              <a:rPr lang="en-US" sz="8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29500" y="5219700"/>
            <a:ext cx="3429000" cy="38100"/>
            <a:chOff x="0" y="0"/>
            <a:chExt cx="4572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50800"/>
            </a:xfrm>
            <a:custGeom>
              <a:avLst/>
              <a:gdLst/>
              <a:ahLst/>
              <a:cxnLst/>
              <a:rect r="r" b="b" t="t" l="l"/>
              <a:pathLst>
                <a:path h="508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0E3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72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29000" y="5657850"/>
            <a:ext cx="11430000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39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COMPILENS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29000" y="6534150"/>
            <a:ext cx="114300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“Analyse. Detect. Secure.”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DAHUKSMIios</dc:identifier>
  <dcterms:modified xsi:type="dcterms:W3CDTF">2011-08-01T06:04:30Z</dcterms:modified>
  <cp:revision>1</cp:revision>
  <dc:title>Presented by [NITHYA SHREE – 192521145] [HEMALATHA C – 192524475] [SANJAY – Under the Guidance of: [GUIDE NAME] Department of [DEPARTMENT NAME] · SIMATS Engineering</dc:title>
</cp:coreProperties>
</file>