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6194" y="5668248"/>
            <a:ext cx="8157340" cy="126798"/>
          </a:xfrm>
          <a:custGeom>
            <a:avLst/>
            <a:gdLst/>
            <a:ahLst/>
            <a:cxnLst/>
            <a:rect l="l" t="t" r="r" b="b"/>
            <a:pathLst>
              <a:path w="8157340" h="126798">
                <a:moveTo>
                  <a:pt x="0" y="0"/>
                </a:moveTo>
                <a:lnTo>
                  <a:pt x="8157340" y="0"/>
                </a:lnTo>
                <a:lnTo>
                  <a:pt x="8157340" y="126798"/>
                </a:lnTo>
                <a:lnTo>
                  <a:pt x="0" y="126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299208" y="-5089462"/>
            <a:ext cx="11193011" cy="15948591"/>
          </a:xfrm>
          <a:custGeom>
            <a:avLst/>
            <a:gdLst/>
            <a:ahLst/>
            <a:cxnLst/>
            <a:rect l="l" t="t" r="r" b="b"/>
            <a:pathLst>
              <a:path w="11193011" h="15948591">
                <a:moveTo>
                  <a:pt x="0" y="0"/>
                </a:moveTo>
                <a:lnTo>
                  <a:pt x="11193011" y="0"/>
                </a:lnTo>
                <a:lnTo>
                  <a:pt x="11193011" y="15948591"/>
                </a:lnTo>
                <a:lnTo>
                  <a:pt x="0" y="15948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8032532">
            <a:off x="17948671" y="3046987"/>
            <a:ext cx="2375953" cy="2924250"/>
            <a:chOff x="0" y="0"/>
            <a:chExt cx="6604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6242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3145378">
            <a:off x="14850821" y="6015237"/>
            <a:ext cx="6284422" cy="8229600"/>
          </a:xfrm>
          <a:custGeom>
            <a:avLst/>
            <a:gdLst/>
            <a:ahLst/>
            <a:cxnLst/>
            <a:rect l="l" t="t" r="r" b="b"/>
            <a:pathLst>
              <a:path w="6284422" h="8229600">
                <a:moveTo>
                  <a:pt x="0" y="0"/>
                </a:moveTo>
                <a:lnTo>
                  <a:pt x="6284422" y="0"/>
                </a:lnTo>
                <a:lnTo>
                  <a:pt x="62844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145378">
            <a:off x="12694946" y="7603544"/>
            <a:ext cx="6284422" cy="8229600"/>
          </a:xfrm>
          <a:custGeom>
            <a:avLst/>
            <a:gdLst/>
            <a:ahLst/>
            <a:cxnLst/>
            <a:rect l="l" t="t" r="r" b="b"/>
            <a:pathLst>
              <a:path w="6284422" h="8229600">
                <a:moveTo>
                  <a:pt x="0" y="0"/>
                </a:moveTo>
                <a:lnTo>
                  <a:pt x="6284422" y="0"/>
                </a:lnTo>
                <a:lnTo>
                  <a:pt x="62844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7980103">
            <a:off x="15922248" y="-3413649"/>
            <a:ext cx="3620305" cy="10069647"/>
            <a:chOff x="0" y="0"/>
            <a:chExt cx="953496" cy="26520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3496" cy="2652088"/>
            </a:xfrm>
            <a:custGeom>
              <a:avLst/>
              <a:gdLst/>
              <a:ahLst/>
              <a:cxnLst/>
              <a:rect l="l" t="t" r="r" b="b"/>
              <a:pathLst>
                <a:path w="953496" h="2652088">
                  <a:moveTo>
                    <a:pt x="0" y="0"/>
                  </a:moveTo>
                  <a:lnTo>
                    <a:pt x="953496" y="0"/>
                  </a:lnTo>
                  <a:lnTo>
                    <a:pt x="953496" y="2652088"/>
                  </a:lnTo>
                  <a:lnTo>
                    <a:pt x="0" y="2652088"/>
                  </a:lnTo>
                  <a:close/>
                </a:path>
              </a:pathLst>
            </a:custGeom>
            <a:solidFill>
              <a:srgbClr val="26242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53496" cy="2690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46194" y="1478300"/>
            <a:ext cx="9860085" cy="388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25"/>
              </a:lnSpc>
            </a:pPr>
            <a:r>
              <a:rPr lang="en-US" sz="737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Lexical Analysis</a:t>
            </a:r>
          </a:p>
          <a:p>
            <a:pPr marL="0" lvl="0" indent="0" algn="l">
              <a:lnSpc>
                <a:spcPts val="10325"/>
              </a:lnSpc>
            </a:pPr>
            <a:r>
              <a:rPr lang="en-US" sz="737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First Phase of a Compiler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6194" y="6499896"/>
            <a:ext cx="11021311" cy="39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A Structured Approach to Compiler Design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346194" y="7172798"/>
            <a:ext cx="6492240" cy="0"/>
          </a:xfrm>
          <a:prstGeom prst="line">
            <a:avLst/>
          </a:prstGeom>
          <a:ln w="38100" cap="flat">
            <a:solidFill>
              <a:srgbClr val="FFFFFF">
                <a:alpha val="37647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346194" y="7601794"/>
            <a:ext cx="6259253" cy="35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6"/>
              </a:lnSpc>
              <a:spcBef>
                <a:spcPct val="0"/>
              </a:spcBef>
            </a:pPr>
            <a:r>
              <a:rPr lang="en-US" sz="214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Presented By: Nithya shree k [192521145]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9077" y="8384353"/>
            <a:ext cx="1360807" cy="35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6194" y="8366950"/>
            <a:ext cx="1782883" cy="372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7"/>
              </a:lnSpc>
              <a:spcBef>
                <a:spcPct val="0"/>
              </a:spcBef>
            </a:pPr>
            <a:r>
              <a:rPr lang="en-US" sz="220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B.Tech IT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2861351" y="8404679"/>
            <a:ext cx="0" cy="497239"/>
          </a:xfrm>
          <a:prstGeom prst="line">
            <a:avLst/>
          </a:prstGeom>
          <a:ln w="38100" cap="flat">
            <a:solidFill>
              <a:srgbClr val="FFFFFF">
                <a:alpha val="37647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809072" y="7502162"/>
            <a:ext cx="8266951" cy="11779334"/>
          </a:xfrm>
          <a:custGeom>
            <a:avLst/>
            <a:gdLst/>
            <a:ahLst/>
            <a:cxnLst/>
            <a:rect l="l" t="t" r="r" b="b"/>
            <a:pathLst>
              <a:path w="8266951" h="11779334">
                <a:moveTo>
                  <a:pt x="0" y="0"/>
                </a:moveTo>
                <a:lnTo>
                  <a:pt x="8266950" y="0"/>
                </a:lnTo>
                <a:lnTo>
                  <a:pt x="8266950" y="11779334"/>
                </a:lnTo>
                <a:lnTo>
                  <a:pt x="0" y="11779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779334" y="-66471"/>
            <a:ext cx="6508666" cy="10353471"/>
            <a:chOff x="0" y="0"/>
            <a:chExt cx="1714217" cy="2726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4216" cy="2726840"/>
            </a:xfrm>
            <a:custGeom>
              <a:avLst/>
              <a:gdLst/>
              <a:ahLst/>
              <a:cxnLst/>
              <a:rect l="l" t="t" r="r" b="b"/>
              <a:pathLst>
                <a:path w="1714216" h="2726840">
                  <a:moveTo>
                    <a:pt x="0" y="0"/>
                  </a:moveTo>
                  <a:lnTo>
                    <a:pt x="1714216" y="0"/>
                  </a:lnTo>
                  <a:lnTo>
                    <a:pt x="1714216" y="2726840"/>
                  </a:lnTo>
                  <a:lnTo>
                    <a:pt x="0" y="2726840"/>
                  </a:ln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14217" cy="2764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051800" y="1836891"/>
            <a:ext cx="926865" cy="926865"/>
          </a:xfrm>
          <a:custGeom>
            <a:avLst/>
            <a:gdLst/>
            <a:ahLst/>
            <a:cxnLst/>
            <a:rect l="l" t="t" r="r" b="b"/>
            <a:pathLst>
              <a:path w="926865" h="926865">
                <a:moveTo>
                  <a:pt x="0" y="0"/>
                </a:moveTo>
                <a:lnTo>
                  <a:pt x="926865" y="0"/>
                </a:lnTo>
                <a:lnTo>
                  <a:pt x="926865" y="926865"/>
                </a:lnTo>
                <a:lnTo>
                  <a:pt x="0" y="926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922646" y="4726541"/>
            <a:ext cx="965588" cy="833917"/>
          </a:xfrm>
          <a:custGeom>
            <a:avLst/>
            <a:gdLst/>
            <a:ahLst/>
            <a:cxnLst/>
            <a:rect l="l" t="t" r="r" b="b"/>
            <a:pathLst>
              <a:path w="965588" h="833917">
                <a:moveTo>
                  <a:pt x="0" y="0"/>
                </a:moveTo>
                <a:lnTo>
                  <a:pt x="965588" y="0"/>
                </a:lnTo>
                <a:lnTo>
                  <a:pt x="965588" y="833918"/>
                </a:lnTo>
                <a:lnTo>
                  <a:pt x="0" y="8339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051800" y="7255911"/>
            <a:ext cx="949724" cy="1083711"/>
          </a:xfrm>
          <a:custGeom>
            <a:avLst/>
            <a:gdLst/>
            <a:ahLst/>
            <a:cxnLst/>
            <a:rect l="l" t="t" r="r" b="b"/>
            <a:pathLst>
              <a:path w="949724" h="1083711">
                <a:moveTo>
                  <a:pt x="0" y="0"/>
                </a:moveTo>
                <a:lnTo>
                  <a:pt x="949724" y="0"/>
                </a:lnTo>
                <a:lnTo>
                  <a:pt x="949724" y="1083710"/>
                </a:lnTo>
                <a:lnTo>
                  <a:pt x="0" y="1083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41242" y="2343142"/>
            <a:ext cx="8569442" cy="1558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30"/>
              </a:lnSpc>
            </a:pPr>
            <a:r>
              <a:rPr lang="en-US" sz="235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A compiler is a software tool that translates high-level programming languages (such as C, Java, and C++) into machine code that computers can execute directly.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4558" y="866674"/>
            <a:ext cx="8569442" cy="9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2"/>
              </a:lnSpc>
              <a:spcBef>
                <a:spcPct val="0"/>
              </a:spcBef>
            </a:pPr>
            <a:r>
              <a:rPr lang="en-US" sz="570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Introduction to Compiler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89070" y="1694016"/>
            <a:ext cx="3419010" cy="108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69"/>
              </a:lnSpc>
            </a:pPr>
            <a:r>
              <a:rPr lang="en-US" sz="2482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Translates high-level code to machine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89070" y="4574141"/>
            <a:ext cx="4053744" cy="1149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88"/>
              </a:lnSpc>
            </a:pPr>
            <a:r>
              <a:rPr lang="en-US" sz="2660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Detects and reports errors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17645" y="7458120"/>
            <a:ext cx="4053744" cy="526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28"/>
              </a:lnSpc>
            </a:pPr>
            <a:r>
              <a:rPr lang="en-US" sz="2460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Optimizes for efficiency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7374" y="4406040"/>
            <a:ext cx="8569442" cy="368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30"/>
              </a:lnSpc>
            </a:pPr>
            <a:r>
              <a:rPr lang="en-US" sz="235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Main Functions:</a:t>
            </a:r>
          </a:p>
          <a:p>
            <a:pPr marL="0" lvl="0" indent="0" algn="just">
              <a:lnSpc>
                <a:spcPts val="4230"/>
              </a:lnSpc>
            </a:pPr>
            <a:r>
              <a:rPr lang="en-US" sz="235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• Converts source code into machine code</a:t>
            </a:r>
          </a:p>
          <a:p>
            <a:pPr marL="0" lvl="0" indent="0" algn="just">
              <a:lnSpc>
                <a:spcPts val="4230"/>
              </a:lnSpc>
            </a:pPr>
            <a:r>
              <a:rPr lang="en-US" sz="235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• Detects programming errors during compilation</a:t>
            </a:r>
          </a:p>
          <a:p>
            <a:pPr marL="0" lvl="0" indent="0" algn="just">
              <a:lnSpc>
                <a:spcPts val="4230"/>
              </a:lnSpc>
            </a:pPr>
            <a:r>
              <a:rPr lang="en-US" sz="235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• Optimizes generated code for better performance</a:t>
            </a:r>
          </a:p>
          <a:p>
            <a:pPr marL="0" lvl="0" indent="0" algn="just">
              <a:lnSpc>
                <a:spcPts val="4230"/>
              </a:lnSpc>
            </a:pPr>
            <a:r>
              <a:rPr lang="en-US" sz="235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• Improves execution efficiency</a:t>
            </a:r>
          </a:p>
          <a:p>
            <a:pPr marL="0" lvl="0" indent="0" algn="just">
              <a:lnSpc>
                <a:spcPts val="4230"/>
              </a:lnSpc>
            </a:pPr>
            <a:r>
              <a:rPr lang="en-US" sz="235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Example: int a = 10; is compiled into machine language (binary).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846585" y="6414077"/>
            <a:ext cx="13399778" cy="19092948"/>
          </a:xfrm>
          <a:custGeom>
            <a:avLst/>
            <a:gdLst/>
            <a:ahLst/>
            <a:cxnLst/>
            <a:rect l="l" t="t" r="r" b="b"/>
            <a:pathLst>
              <a:path w="13399778" h="19092948">
                <a:moveTo>
                  <a:pt x="0" y="0"/>
                </a:moveTo>
                <a:lnTo>
                  <a:pt x="13399778" y="0"/>
                </a:lnTo>
                <a:lnTo>
                  <a:pt x="13399778" y="19092948"/>
                </a:lnTo>
                <a:lnTo>
                  <a:pt x="0" y="19092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70863" y="1305435"/>
            <a:ext cx="6507372" cy="1474531"/>
            <a:chOff x="0" y="0"/>
            <a:chExt cx="1713876" cy="3883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3876" cy="388354"/>
            </a:xfrm>
            <a:custGeom>
              <a:avLst/>
              <a:gdLst/>
              <a:ahLst/>
              <a:cxnLst/>
              <a:rect l="l" t="t" r="r" b="b"/>
              <a:pathLst>
                <a:path w="1713876" h="388354">
                  <a:moveTo>
                    <a:pt x="60675" y="0"/>
                  </a:moveTo>
                  <a:lnTo>
                    <a:pt x="1653200" y="0"/>
                  </a:lnTo>
                  <a:cubicBezTo>
                    <a:pt x="1669292" y="0"/>
                    <a:pt x="1684725" y="6393"/>
                    <a:pt x="1696104" y="17771"/>
                  </a:cubicBezTo>
                  <a:cubicBezTo>
                    <a:pt x="1707483" y="29150"/>
                    <a:pt x="1713876" y="44583"/>
                    <a:pt x="1713876" y="60675"/>
                  </a:cubicBezTo>
                  <a:lnTo>
                    <a:pt x="1713876" y="327678"/>
                  </a:lnTo>
                  <a:cubicBezTo>
                    <a:pt x="1713876" y="343771"/>
                    <a:pt x="1707483" y="359204"/>
                    <a:pt x="1696104" y="370582"/>
                  </a:cubicBezTo>
                  <a:cubicBezTo>
                    <a:pt x="1684725" y="381961"/>
                    <a:pt x="1669292" y="388354"/>
                    <a:pt x="1653200" y="388354"/>
                  </a:cubicBezTo>
                  <a:lnTo>
                    <a:pt x="60675" y="388354"/>
                  </a:lnTo>
                  <a:cubicBezTo>
                    <a:pt x="44583" y="388354"/>
                    <a:pt x="29150" y="381961"/>
                    <a:pt x="17771" y="370582"/>
                  </a:cubicBezTo>
                  <a:cubicBezTo>
                    <a:pt x="6393" y="359204"/>
                    <a:pt x="0" y="343771"/>
                    <a:pt x="0" y="327678"/>
                  </a:cubicBezTo>
                  <a:lnTo>
                    <a:pt x="0" y="60675"/>
                  </a:lnTo>
                  <a:cubicBezTo>
                    <a:pt x="0" y="44583"/>
                    <a:pt x="6393" y="29150"/>
                    <a:pt x="17771" y="17771"/>
                  </a:cubicBezTo>
                  <a:cubicBezTo>
                    <a:pt x="29150" y="6393"/>
                    <a:pt x="44583" y="0"/>
                    <a:pt x="6067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13876" cy="42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27397" y="838200"/>
            <a:ext cx="8219077" cy="340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09"/>
              </a:lnSpc>
            </a:pPr>
            <a:r>
              <a:rPr lang="en-US" sz="979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Phases of</a:t>
            </a:r>
          </a:p>
          <a:p>
            <a:pPr marL="0" lvl="0" indent="0" algn="l">
              <a:lnSpc>
                <a:spcPts val="13709"/>
              </a:lnSpc>
            </a:pPr>
            <a:r>
              <a:rPr lang="en-US" sz="979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 Compiler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7348" y="4826595"/>
            <a:ext cx="7731026" cy="3887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967" lvl="1" indent="-267983" algn="l">
              <a:lnSpc>
                <a:spcPts val="4468"/>
              </a:lnSpc>
              <a:buFont typeface="Arial"/>
              <a:buChar char="•"/>
            </a:pPr>
            <a:r>
              <a:rPr lang="en-US" sz="2482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A compiler transforms source code through multiple phases.</a:t>
            </a:r>
          </a:p>
          <a:p>
            <a:pPr marL="535967" lvl="1" indent="-267983" algn="l">
              <a:lnSpc>
                <a:spcPts val="4468"/>
              </a:lnSpc>
              <a:buFont typeface="Arial"/>
              <a:buChar char="•"/>
            </a:pPr>
            <a:r>
              <a:rPr lang="en-US" sz="2482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 Each phase performs a specific task, passing its output to the next stage. </a:t>
            </a:r>
          </a:p>
          <a:p>
            <a:pPr marL="535967" lvl="1" indent="-267983" algn="l">
              <a:lnSpc>
                <a:spcPts val="4468"/>
              </a:lnSpc>
              <a:buFont typeface="Arial"/>
              <a:buChar char="•"/>
            </a:pPr>
            <a:r>
              <a:rPr lang="en-US" sz="2482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Lexical analysis serves as the foundation, preparing clean tokens for all subsequent processing.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70863" y="3327588"/>
            <a:ext cx="6507372" cy="1474531"/>
            <a:chOff x="0" y="0"/>
            <a:chExt cx="1713876" cy="3883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13876" cy="388354"/>
            </a:xfrm>
            <a:custGeom>
              <a:avLst/>
              <a:gdLst/>
              <a:ahLst/>
              <a:cxnLst/>
              <a:rect l="l" t="t" r="r" b="b"/>
              <a:pathLst>
                <a:path w="1713876" h="388354">
                  <a:moveTo>
                    <a:pt x="60675" y="0"/>
                  </a:moveTo>
                  <a:lnTo>
                    <a:pt x="1653200" y="0"/>
                  </a:lnTo>
                  <a:cubicBezTo>
                    <a:pt x="1669292" y="0"/>
                    <a:pt x="1684725" y="6393"/>
                    <a:pt x="1696104" y="17771"/>
                  </a:cubicBezTo>
                  <a:cubicBezTo>
                    <a:pt x="1707483" y="29150"/>
                    <a:pt x="1713876" y="44583"/>
                    <a:pt x="1713876" y="60675"/>
                  </a:cubicBezTo>
                  <a:lnTo>
                    <a:pt x="1713876" y="327678"/>
                  </a:lnTo>
                  <a:cubicBezTo>
                    <a:pt x="1713876" y="343771"/>
                    <a:pt x="1707483" y="359204"/>
                    <a:pt x="1696104" y="370582"/>
                  </a:cubicBezTo>
                  <a:cubicBezTo>
                    <a:pt x="1684725" y="381961"/>
                    <a:pt x="1669292" y="388354"/>
                    <a:pt x="1653200" y="388354"/>
                  </a:cubicBezTo>
                  <a:lnTo>
                    <a:pt x="60675" y="388354"/>
                  </a:lnTo>
                  <a:cubicBezTo>
                    <a:pt x="44583" y="388354"/>
                    <a:pt x="29150" y="381961"/>
                    <a:pt x="17771" y="370582"/>
                  </a:cubicBezTo>
                  <a:cubicBezTo>
                    <a:pt x="6393" y="359204"/>
                    <a:pt x="0" y="343771"/>
                    <a:pt x="0" y="327678"/>
                  </a:cubicBezTo>
                  <a:lnTo>
                    <a:pt x="0" y="60675"/>
                  </a:lnTo>
                  <a:cubicBezTo>
                    <a:pt x="0" y="44583"/>
                    <a:pt x="6393" y="29150"/>
                    <a:pt x="17771" y="17771"/>
                  </a:cubicBezTo>
                  <a:cubicBezTo>
                    <a:pt x="29150" y="6393"/>
                    <a:pt x="44583" y="0"/>
                    <a:pt x="6067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13876" cy="42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70863" y="5349741"/>
            <a:ext cx="6507372" cy="1474531"/>
            <a:chOff x="0" y="0"/>
            <a:chExt cx="1713876" cy="3883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13876" cy="388354"/>
            </a:xfrm>
            <a:custGeom>
              <a:avLst/>
              <a:gdLst/>
              <a:ahLst/>
              <a:cxnLst/>
              <a:rect l="l" t="t" r="r" b="b"/>
              <a:pathLst>
                <a:path w="1713876" h="388354">
                  <a:moveTo>
                    <a:pt x="60675" y="0"/>
                  </a:moveTo>
                  <a:lnTo>
                    <a:pt x="1653200" y="0"/>
                  </a:lnTo>
                  <a:cubicBezTo>
                    <a:pt x="1669292" y="0"/>
                    <a:pt x="1684725" y="6393"/>
                    <a:pt x="1696104" y="17771"/>
                  </a:cubicBezTo>
                  <a:cubicBezTo>
                    <a:pt x="1707483" y="29150"/>
                    <a:pt x="1713876" y="44583"/>
                    <a:pt x="1713876" y="60675"/>
                  </a:cubicBezTo>
                  <a:lnTo>
                    <a:pt x="1713876" y="327678"/>
                  </a:lnTo>
                  <a:cubicBezTo>
                    <a:pt x="1713876" y="343771"/>
                    <a:pt x="1707483" y="359204"/>
                    <a:pt x="1696104" y="370582"/>
                  </a:cubicBezTo>
                  <a:cubicBezTo>
                    <a:pt x="1684725" y="381961"/>
                    <a:pt x="1669292" y="388354"/>
                    <a:pt x="1653200" y="388354"/>
                  </a:cubicBezTo>
                  <a:lnTo>
                    <a:pt x="60675" y="388354"/>
                  </a:lnTo>
                  <a:cubicBezTo>
                    <a:pt x="44583" y="388354"/>
                    <a:pt x="29150" y="381961"/>
                    <a:pt x="17771" y="370582"/>
                  </a:cubicBezTo>
                  <a:cubicBezTo>
                    <a:pt x="6393" y="359204"/>
                    <a:pt x="0" y="343771"/>
                    <a:pt x="0" y="327678"/>
                  </a:cubicBezTo>
                  <a:lnTo>
                    <a:pt x="0" y="60675"/>
                  </a:lnTo>
                  <a:cubicBezTo>
                    <a:pt x="0" y="44583"/>
                    <a:pt x="6393" y="29150"/>
                    <a:pt x="17771" y="17771"/>
                  </a:cubicBezTo>
                  <a:cubicBezTo>
                    <a:pt x="29150" y="6393"/>
                    <a:pt x="44583" y="0"/>
                    <a:pt x="6067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13876" cy="42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70863" y="7338548"/>
            <a:ext cx="6507372" cy="1474531"/>
            <a:chOff x="0" y="0"/>
            <a:chExt cx="1713876" cy="3883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13876" cy="388354"/>
            </a:xfrm>
            <a:custGeom>
              <a:avLst/>
              <a:gdLst/>
              <a:ahLst/>
              <a:cxnLst/>
              <a:rect l="l" t="t" r="r" b="b"/>
              <a:pathLst>
                <a:path w="1713876" h="388354">
                  <a:moveTo>
                    <a:pt x="60675" y="0"/>
                  </a:moveTo>
                  <a:lnTo>
                    <a:pt x="1653200" y="0"/>
                  </a:lnTo>
                  <a:cubicBezTo>
                    <a:pt x="1669292" y="0"/>
                    <a:pt x="1684725" y="6393"/>
                    <a:pt x="1696104" y="17771"/>
                  </a:cubicBezTo>
                  <a:cubicBezTo>
                    <a:pt x="1707483" y="29150"/>
                    <a:pt x="1713876" y="44583"/>
                    <a:pt x="1713876" y="60675"/>
                  </a:cubicBezTo>
                  <a:lnTo>
                    <a:pt x="1713876" y="327678"/>
                  </a:lnTo>
                  <a:cubicBezTo>
                    <a:pt x="1713876" y="343771"/>
                    <a:pt x="1707483" y="359204"/>
                    <a:pt x="1696104" y="370582"/>
                  </a:cubicBezTo>
                  <a:cubicBezTo>
                    <a:pt x="1684725" y="381961"/>
                    <a:pt x="1669292" y="388354"/>
                    <a:pt x="1653200" y="388354"/>
                  </a:cubicBezTo>
                  <a:lnTo>
                    <a:pt x="60675" y="388354"/>
                  </a:lnTo>
                  <a:cubicBezTo>
                    <a:pt x="44583" y="388354"/>
                    <a:pt x="29150" y="381961"/>
                    <a:pt x="17771" y="370582"/>
                  </a:cubicBezTo>
                  <a:cubicBezTo>
                    <a:pt x="6393" y="359204"/>
                    <a:pt x="0" y="343771"/>
                    <a:pt x="0" y="327678"/>
                  </a:cubicBezTo>
                  <a:lnTo>
                    <a:pt x="0" y="60675"/>
                  </a:lnTo>
                  <a:cubicBezTo>
                    <a:pt x="0" y="44583"/>
                    <a:pt x="6393" y="29150"/>
                    <a:pt x="17771" y="17771"/>
                  </a:cubicBezTo>
                  <a:cubicBezTo>
                    <a:pt x="29150" y="6393"/>
                    <a:pt x="44583" y="0"/>
                    <a:pt x="6067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713876" cy="42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784850" y="1647412"/>
            <a:ext cx="5479398" cy="50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570" lvl="1" indent="-268785" algn="l">
              <a:lnSpc>
                <a:spcPts val="4481"/>
              </a:lnSpc>
              <a:buAutoNum type="arabicPeriod"/>
            </a:pPr>
            <a:r>
              <a:rPr lang="en-US" sz="2489" b="1">
                <a:solidFill>
                  <a:srgbClr val="282626"/>
                </a:solidFill>
                <a:latin typeface="Inter Bold"/>
                <a:ea typeface="Inter Bold"/>
                <a:cs typeface="Inter Bold"/>
                <a:sym typeface="Inter Bold"/>
              </a:rPr>
              <a:t>Lexical Analysis (First Phase)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84850" y="3669565"/>
            <a:ext cx="5479398" cy="5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570" lvl="1" indent="-268785" algn="l">
              <a:lnSpc>
                <a:spcPts val="4481"/>
              </a:lnSpc>
              <a:buAutoNum type="arabicPeriod"/>
            </a:pPr>
            <a:r>
              <a:rPr lang="en-US" sz="2489" b="1">
                <a:solidFill>
                  <a:srgbClr val="282626"/>
                </a:solidFill>
                <a:latin typeface="Inter Bold"/>
                <a:ea typeface="Inter Bold"/>
                <a:cs typeface="Inter Bold"/>
                <a:sym typeface="Inter Bold"/>
              </a:rPr>
              <a:t>Syntax &amp; Semantic 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84850" y="5675045"/>
            <a:ext cx="5479398" cy="50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570" lvl="1" indent="-268785" algn="l">
              <a:lnSpc>
                <a:spcPts val="4481"/>
              </a:lnSpc>
              <a:buAutoNum type="arabicPeriod"/>
            </a:pPr>
            <a:r>
              <a:rPr lang="en-US" sz="2489" b="1">
                <a:solidFill>
                  <a:srgbClr val="282626"/>
                </a:solidFill>
                <a:latin typeface="Inter Bold"/>
                <a:ea typeface="Inter Bold"/>
                <a:cs typeface="Inter Bold"/>
                <a:sym typeface="Inter Bold"/>
              </a:rPr>
              <a:t>Intermediate Code Generation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84850" y="7647179"/>
            <a:ext cx="5479398" cy="50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570" lvl="1" indent="-268785" algn="l">
              <a:lnSpc>
                <a:spcPts val="4481"/>
              </a:lnSpc>
              <a:buAutoNum type="arabicPeriod"/>
            </a:pPr>
            <a:r>
              <a:rPr lang="en-US" sz="2489" b="1">
                <a:solidFill>
                  <a:srgbClr val="282626"/>
                </a:solidFill>
                <a:latin typeface="Inter Bold"/>
                <a:ea typeface="Inter Bold"/>
                <a:cs typeface="Inter Bold"/>
                <a:sym typeface="Inter Bold"/>
              </a:rPr>
              <a:t>Code Optimization &amp;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846585" y="6414077"/>
            <a:ext cx="13399778" cy="19092948"/>
          </a:xfrm>
          <a:custGeom>
            <a:avLst/>
            <a:gdLst/>
            <a:ahLst/>
            <a:cxnLst/>
            <a:rect l="l" t="t" r="r" b="b"/>
            <a:pathLst>
              <a:path w="13399778" h="19092948">
                <a:moveTo>
                  <a:pt x="0" y="0"/>
                </a:moveTo>
                <a:lnTo>
                  <a:pt x="13399778" y="0"/>
                </a:lnTo>
                <a:lnTo>
                  <a:pt x="13399778" y="19092948"/>
                </a:lnTo>
                <a:lnTo>
                  <a:pt x="0" y="19092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489329" y="68518"/>
            <a:ext cx="4809664" cy="8493663"/>
            <a:chOff x="0" y="0"/>
            <a:chExt cx="46523547" cy="821586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523548" cy="82158613"/>
            </a:xfrm>
            <a:custGeom>
              <a:avLst/>
              <a:gdLst/>
              <a:ahLst/>
              <a:cxnLst/>
              <a:rect l="l" t="t" r="r" b="b"/>
              <a:pathLst>
                <a:path w="46523548" h="82158613">
                  <a:moveTo>
                    <a:pt x="0" y="0"/>
                  </a:moveTo>
                  <a:lnTo>
                    <a:pt x="46523548" y="0"/>
                  </a:lnTo>
                  <a:lnTo>
                    <a:pt x="46523548" y="82158613"/>
                  </a:lnTo>
                  <a:lnTo>
                    <a:pt x="0" y="82158613"/>
                  </a:lnTo>
                  <a:close/>
                </a:path>
              </a:pathLst>
            </a:custGeom>
            <a:blipFill>
              <a:blip r:embed="rId3"/>
              <a:stretch>
                <a:fillRect l="-4192" r="-419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77961" y="4221709"/>
            <a:ext cx="6366698" cy="1904956"/>
            <a:chOff x="0" y="0"/>
            <a:chExt cx="1093329" cy="327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3329" cy="327131"/>
            </a:xfrm>
            <a:custGeom>
              <a:avLst/>
              <a:gdLst/>
              <a:ahLst/>
              <a:cxnLst/>
              <a:rect l="l" t="t" r="r" b="b"/>
              <a:pathLst>
                <a:path w="1093329" h="327131">
                  <a:moveTo>
                    <a:pt x="29184" y="0"/>
                  </a:moveTo>
                  <a:lnTo>
                    <a:pt x="1064145" y="0"/>
                  </a:lnTo>
                  <a:cubicBezTo>
                    <a:pt x="1080263" y="0"/>
                    <a:pt x="1093329" y="13066"/>
                    <a:pt x="1093329" y="29184"/>
                  </a:cubicBezTo>
                  <a:lnTo>
                    <a:pt x="1093329" y="297947"/>
                  </a:lnTo>
                  <a:cubicBezTo>
                    <a:pt x="1093329" y="314065"/>
                    <a:pt x="1080263" y="327131"/>
                    <a:pt x="1064145" y="327131"/>
                  </a:cubicBezTo>
                  <a:lnTo>
                    <a:pt x="29184" y="327131"/>
                  </a:lnTo>
                  <a:cubicBezTo>
                    <a:pt x="21444" y="327131"/>
                    <a:pt x="14021" y="324056"/>
                    <a:pt x="8548" y="318583"/>
                  </a:cubicBezTo>
                  <a:cubicBezTo>
                    <a:pt x="3075" y="313110"/>
                    <a:pt x="0" y="305687"/>
                    <a:pt x="0" y="297947"/>
                  </a:cubicBezTo>
                  <a:lnTo>
                    <a:pt x="0" y="29184"/>
                  </a:lnTo>
                  <a:cubicBezTo>
                    <a:pt x="0" y="21444"/>
                    <a:pt x="3075" y="14021"/>
                    <a:pt x="8548" y="8548"/>
                  </a:cubicBezTo>
                  <a:cubicBezTo>
                    <a:pt x="14021" y="3075"/>
                    <a:pt x="21444" y="0"/>
                    <a:pt x="29184" y="0"/>
                  </a:cubicBezTo>
                  <a:close/>
                </a:path>
              </a:pathLst>
            </a:custGeom>
            <a:solidFill>
              <a:srgbClr val="C9A227">
                <a:alpha val="6000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093329" cy="327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7961" y="6794626"/>
            <a:ext cx="6366698" cy="1904956"/>
            <a:chOff x="0" y="0"/>
            <a:chExt cx="1093329" cy="3271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3329" cy="327131"/>
            </a:xfrm>
            <a:custGeom>
              <a:avLst/>
              <a:gdLst/>
              <a:ahLst/>
              <a:cxnLst/>
              <a:rect l="l" t="t" r="r" b="b"/>
              <a:pathLst>
                <a:path w="1093329" h="327131">
                  <a:moveTo>
                    <a:pt x="29184" y="0"/>
                  </a:moveTo>
                  <a:lnTo>
                    <a:pt x="1064145" y="0"/>
                  </a:lnTo>
                  <a:cubicBezTo>
                    <a:pt x="1080263" y="0"/>
                    <a:pt x="1093329" y="13066"/>
                    <a:pt x="1093329" y="29184"/>
                  </a:cubicBezTo>
                  <a:lnTo>
                    <a:pt x="1093329" y="297947"/>
                  </a:lnTo>
                  <a:cubicBezTo>
                    <a:pt x="1093329" y="314065"/>
                    <a:pt x="1080263" y="327131"/>
                    <a:pt x="1064145" y="327131"/>
                  </a:cubicBezTo>
                  <a:lnTo>
                    <a:pt x="29184" y="327131"/>
                  </a:lnTo>
                  <a:cubicBezTo>
                    <a:pt x="21444" y="327131"/>
                    <a:pt x="14021" y="324056"/>
                    <a:pt x="8548" y="318583"/>
                  </a:cubicBezTo>
                  <a:cubicBezTo>
                    <a:pt x="3075" y="313110"/>
                    <a:pt x="0" y="305687"/>
                    <a:pt x="0" y="297947"/>
                  </a:cubicBezTo>
                  <a:lnTo>
                    <a:pt x="0" y="29184"/>
                  </a:lnTo>
                  <a:cubicBezTo>
                    <a:pt x="0" y="21444"/>
                    <a:pt x="3075" y="14021"/>
                    <a:pt x="8548" y="8548"/>
                  </a:cubicBezTo>
                  <a:cubicBezTo>
                    <a:pt x="14021" y="3075"/>
                    <a:pt x="21444" y="0"/>
                    <a:pt x="29184" y="0"/>
                  </a:cubicBezTo>
                  <a:close/>
                </a:path>
              </a:pathLst>
            </a:custGeom>
            <a:solidFill>
              <a:srgbClr val="C9A227">
                <a:alpha val="6000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93329" cy="327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7961" y="1615868"/>
            <a:ext cx="6377968" cy="1904956"/>
            <a:chOff x="0" y="0"/>
            <a:chExt cx="1095265" cy="3271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5265" cy="327131"/>
            </a:xfrm>
            <a:custGeom>
              <a:avLst/>
              <a:gdLst/>
              <a:ahLst/>
              <a:cxnLst/>
              <a:rect l="l" t="t" r="r" b="b"/>
              <a:pathLst>
                <a:path w="1095265" h="327131">
                  <a:moveTo>
                    <a:pt x="29132" y="0"/>
                  </a:moveTo>
                  <a:lnTo>
                    <a:pt x="1066132" y="0"/>
                  </a:lnTo>
                  <a:cubicBezTo>
                    <a:pt x="1073859" y="0"/>
                    <a:pt x="1081269" y="3069"/>
                    <a:pt x="1086732" y="8533"/>
                  </a:cubicBezTo>
                  <a:cubicBezTo>
                    <a:pt x="1092195" y="13996"/>
                    <a:pt x="1095265" y="21406"/>
                    <a:pt x="1095265" y="29132"/>
                  </a:cubicBezTo>
                  <a:lnTo>
                    <a:pt x="1095265" y="297999"/>
                  </a:lnTo>
                  <a:cubicBezTo>
                    <a:pt x="1095265" y="314088"/>
                    <a:pt x="1082222" y="327131"/>
                    <a:pt x="1066132" y="327131"/>
                  </a:cubicBezTo>
                  <a:lnTo>
                    <a:pt x="29132" y="327131"/>
                  </a:lnTo>
                  <a:cubicBezTo>
                    <a:pt x="21406" y="327131"/>
                    <a:pt x="13996" y="324062"/>
                    <a:pt x="8533" y="318598"/>
                  </a:cubicBezTo>
                  <a:cubicBezTo>
                    <a:pt x="3069" y="313135"/>
                    <a:pt x="0" y="305725"/>
                    <a:pt x="0" y="297999"/>
                  </a:cubicBezTo>
                  <a:lnTo>
                    <a:pt x="0" y="29132"/>
                  </a:lnTo>
                  <a:cubicBezTo>
                    <a:pt x="0" y="21406"/>
                    <a:pt x="3069" y="13996"/>
                    <a:pt x="8533" y="8533"/>
                  </a:cubicBezTo>
                  <a:cubicBezTo>
                    <a:pt x="13996" y="3069"/>
                    <a:pt x="21406" y="0"/>
                    <a:pt x="29132" y="0"/>
                  </a:cubicBezTo>
                  <a:close/>
                </a:path>
              </a:pathLst>
            </a:custGeom>
            <a:solidFill>
              <a:srgbClr val="C9A227">
                <a:alpha val="6000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095265" cy="327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98275" y="4728012"/>
            <a:ext cx="758453" cy="992500"/>
          </a:xfrm>
          <a:custGeom>
            <a:avLst/>
            <a:gdLst/>
            <a:ahLst/>
            <a:cxnLst/>
            <a:rect l="l" t="t" r="r" b="b"/>
            <a:pathLst>
              <a:path w="758453" h="992500">
                <a:moveTo>
                  <a:pt x="0" y="0"/>
                </a:moveTo>
                <a:lnTo>
                  <a:pt x="758453" y="0"/>
                </a:lnTo>
                <a:lnTo>
                  <a:pt x="758453" y="992499"/>
                </a:lnTo>
                <a:lnTo>
                  <a:pt x="0" y="9924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54648" y="7310708"/>
            <a:ext cx="845706" cy="1028446"/>
          </a:xfrm>
          <a:custGeom>
            <a:avLst/>
            <a:gdLst/>
            <a:ahLst/>
            <a:cxnLst/>
            <a:rect l="l" t="t" r="r" b="b"/>
            <a:pathLst>
              <a:path w="845706" h="1028446">
                <a:moveTo>
                  <a:pt x="0" y="0"/>
                </a:moveTo>
                <a:lnTo>
                  <a:pt x="845706" y="0"/>
                </a:lnTo>
                <a:lnTo>
                  <a:pt x="845706" y="1028446"/>
                </a:lnTo>
                <a:lnTo>
                  <a:pt x="0" y="10284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70573" y="2234950"/>
            <a:ext cx="886155" cy="748119"/>
          </a:xfrm>
          <a:custGeom>
            <a:avLst/>
            <a:gdLst/>
            <a:ahLst/>
            <a:cxnLst/>
            <a:rect l="l" t="t" r="r" b="b"/>
            <a:pathLst>
              <a:path w="886155" h="748119">
                <a:moveTo>
                  <a:pt x="0" y="0"/>
                </a:moveTo>
                <a:lnTo>
                  <a:pt x="886155" y="0"/>
                </a:lnTo>
                <a:lnTo>
                  <a:pt x="886155" y="748119"/>
                </a:lnTo>
                <a:lnTo>
                  <a:pt x="0" y="748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298993" y="391228"/>
            <a:ext cx="4912894" cy="3830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2"/>
              </a:lnSpc>
            </a:pPr>
            <a:r>
              <a:rPr lang="en-US" sz="728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is Lexical Analysis?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89878" y="2234950"/>
            <a:ext cx="3988895" cy="666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7"/>
              </a:lnSpc>
            </a:pPr>
            <a:r>
              <a:rPr lang="en-US" sz="2197" b="1">
                <a:solidFill>
                  <a:srgbClr val="282626"/>
                </a:solidFill>
                <a:latin typeface="Inter Medium"/>
                <a:ea typeface="Inter Medium"/>
                <a:cs typeface="Inter Medium"/>
                <a:sym typeface="Inter Medium"/>
              </a:rPr>
              <a:t>Read source code &amp; remove spaces/comments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89878" y="4881414"/>
            <a:ext cx="3988895" cy="68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</a:pPr>
            <a:r>
              <a:rPr lang="en-US" sz="2297" b="1">
                <a:solidFill>
                  <a:srgbClr val="282626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tokens &amp; detect lexical errors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89878" y="7462928"/>
            <a:ext cx="3988895" cy="73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2497" b="1">
                <a:solidFill>
                  <a:srgbClr val="282626"/>
                </a:solidFill>
                <a:latin typeface="Inter Medium"/>
                <a:ea typeface="Inter Medium"/>
                <a:cs typeface="Inter Medium"/>
                <a:sym typeface="Inter Medium"/>
              </a:rPr>
              <a:t>Create symbol table entries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298993" y="4579649"/>
            <a:ext cx="5582937" cy="4021205"/>
            <a:chOff x="0" y="0"/>
            <a:chExt cx="33167908" cy="2388974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167907" cy="23889746"/>
            </a:xfrm>
            <a:custGeom>
              <a:avLst/>
              <a:gdLst/>
              <a:ahLst/>
              <a:cxnLst/>
              <a:rect l="l" t="t" r="r" b="b"/>
              <a:pathLst>
                <a:path w="33167907" h="23889746">
                  <a:moveTo>
                    <a:pt x="0" y="0"/>
                  </a:moveTo>
                  <a:lnTo>
                    <a:pt x="33167907" y="0"/>
                  </a:lnTo>
                  <a:lnTo>
                    <a:pt x="33167907" y="23889746"/>
                  </a:lnTo>
                  <a:lnTo>
                    <a:pt x="0" y="23889746"/>
                  </a:lnTo>
                  <a:close/>
                </a:path>
              </a:pathLst>
            </a:custGeom>
            <a:blipFill>
              <a:blip r:embed="rId7"/>
              <a:stretch>
                <a:fillRect l="-33027" r="-3302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846585" y="6414077"/>
            <a:ext cx="13399778" cy="19092948"/>
          </a:xfrm>
          <a:custGeom>
            <a:avLst/>
            <a:gdLst/>
            <a:ahLst/>
            <a:cxnLst/>
            <a:rect l="l" t="t" r="r" b="b"/>
            <a:pathLst>
              <a:path w="13399778" h="19092948">
                <a:moveTo>
                  <a:pt x="0" y="0"/>
                </a:moveTo>
                <a:lnTo>
                  <a:pt x="13399778" y="0"/>
                </a:lnTo>
                <a:lnTo>
                  <a:pt x="13399778" y="19092948"/>
                </a:lnTo>
                <a:lnTo>
                  <a:pt x="0" y="19092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30548" y="-417089"/>
            <a:ext cx="6366698" cy="1904956"/>
            <a:chOff x="0" y="0"/>
            <a:chExt cx="1093329" cy="32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3329" cy="327131"/>
            </a:xfrm>
            <a:custGeom>
              <a:avLst/>
              <a:gdLst/>
              <a:ahLst/>
              <a:cxnLst/>
              <a:rect l="l" t="t" r="r" b="b"/>
              <a:pathLst>
                <a:path w="1093329" h="327131">
                  <a:moveTo>
                    <a:pt x="29184" y="0"/>
                  </a:moveTo>
                  <a:lnTo>
                    <a:pt x="1064145" y="0"/>
                  </a:lnTo>
                  <a:cubicBezTo>
                    <a:pt x="1080263" y="0"/>
                    <a:pt x="1093329" y="13066"/>
                    <a:pt x="1093329" y="29184"/>
                  </a:cubicBezTo>
                  <a:lnTo>
                    <a:pt x="1093329" y="297947"/>
                  </a:lnTo>
                  <a:cubicBezTo>
                    <a:pt x="1093329" y="314065"/>
                    <a:pt x="1080263" y="327131"/>
                    <a:pt x="1064145" y="327131"/>
                  </a:cubicBezTo>
                  <a:lnTo>
                    <a:pt x="29184" y="327131"/>
                  </a:lnTo>
                  <a:cubicBezTo>
                    <a:pt x="21444" y="327131"/>
                    <a:pt x="14021" y="324056"/>
                    <a:pt x="8548" y="318583"/>
                  </a:cubicBezTo>
                  <a:cubicBezTo>
                    <a:pt x="3075" y="313110"/>
                    <a:pt x="0" y="305687"/>
                    <a:pt x="0" y="297947"/>
                  </a:cubicBezTo>
                  <a:lnTo>
                    <a:pt x="0" y="29184"/>
                  </a:lnTo>
                  <a:cubicBezTo>
                    <a:pt x="0" y="21444"/>
                    <a:pt x="3075" y="14021"/>
                    <a:pt x="8548" y="8548"/>
                  </a:cubicBezTo>
                  <a:cubicBezTo>
                    <a:pt x="14021" y="3075"/>
                    <a:pt x="21444" y="0"/>
                    <a:pt x="29184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093329" cy="327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425" y="2008006"/>
            <a:ext cx="8824392" cy="4114800"/>
            <a:chOff x="0" y="0"/>
            <a:chExt cx="85357739" cy="398021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357742" cy="39802178"/>
            </a:xfrm>
            <a:custGeom>
              <a:avLst/>
              <a:gdLst/>
              <a:ahLst/>
              <a:cxnLst/>
              <a:rect l="l" t="t" r="r" b="b"/>
              <a:pathLst>
                <a:path w="85357742" h="39802178">
                  <a:moveTo>
                    <a:pt x="0" y="0"/>
                  </a:moveTo>
                  <a:lnTo>
                    <a:pt x="85357742" y="0"/>
                  </a:lnTo>
                  <a:lnTo>
                    <a:pt x="85357742" y="39802178"/>
                  </a:lnTo>
                  <a:lnTo>
                    <a:pt x="0" y="39802178"/>
                  </a:lnTo>
                  <a:close/>
                </a:path>
              </a:pathLst>
            </a:custGeom>
            <a:blipFill>
              <a:blip r:embed="rId3"/>
              <a:stretch>
                <a:fillRect t="-664" b="-66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07023" y="421089"/>
            <a:ext cx="6378112" cy="2006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56"/>
              </a:lnSpc>
              <a:spcBef>
                <a:spcPct val="0"/>
              </a:spcBef>
            </a:pPr>
            <a:r>
              <a:rPr lang="en-US" sz="575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Why is Lexical Analysis Needed?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30846" y="3325264"/>
            <a:ext cx="6754290" cy="399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436" lvl="1" indent="-214718" algn="l">
              <a:lnSpc>
                <a:spcPts val="3580"/>
              </a:lnSpc>
              <a:buFont typeface="Arial"/>
              <a:buChar char="•"/>
            </a:pPr>
            <a:r>
              <a:rPr lang="en-US" sz="1989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Without lexical analysis, the compiler receives a raw character stream like "inta=10;" and cannot distinguish where one word ends and another begins.</a:t>
            </a:r>
          </a:p>
          <a:p>
            <a:pPr algn="l">
              <a:lnSpc>
                <a:spcPts val="3580"/>
              </a:lnSpc>
            </a:pPr>
            <a:endParaRPr lang="en-US" sz="1989">
              <a:solidFill>
                <a:srgbClr val="C9A22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29436" lvl="1" indent="-214718" algn="l">
              <a:lnSpc>
                <a:spcPts val="3580"/>
              </a:lnSpc>
              <a:buFont typeface="Arial"/>
              <a:buChar char="•"/>
            </a:pPr>
            <a:r>
              <a:rPr lang="en-US" sz="1989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With lexical analysis, source code is split into meaningful tokens: int, a, =, 10, ;. This tokenization simplifies the work for all subsequent compiler phases, enabling accurate parsing and error detection.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0381" y="5848113"/>
            <a:ext cx="3416504" cy="2732638"/>
            <a:chOff x="0" y="0"/>
            <a:chExt cx="586703" cy="4692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6703" cy="469266"/>
            </a:xfrm>
            <a:custGeom>
              <a:avLst/>
              <a:gdLst/>
              <a:ahLst/>
              <a:cxnLst/>
              <a:rect l="l" t="t" r="r" b="b"/>
              <a:pathLst>
                <a:path w="586703" h="469266">
                  <a:moveTo>
                    <a:pt x="54385" y="0"/>
                  </a:moveTo>
                  <a:lnTo>
                    <a:pt x="532319" y="0"/>
                  </a:lnTo>
                  <a:cubicBezTo>
                    <a:pt x="546742" y="0"/>
                    <a:pt x="560575" y="5730"/>
                    <a:pt x="570774" y="15929"/>
                  </a:cubicBezTo>
                  <a:cubicBezTo>
                    <a:pt x="580974" y="26128"/>
                    <a:pt x="586703" y="39961"/>
                    <a:pt x="586703" y="54385"/>
                  </a:cubicBezTo>
                  <a:lnTo>
                    <a:pt x="586703" y="414881"/>
                  </a:lnTo>
                  <a:cubicBezTo>
                    <a:pt x="586703" y="444917"/>
                    <a:pt x="562354" y="469266"/>
                    <a:pt x="532319" y="469266"/>
                  </a:cubicBezTo>
                  <a:lnTo>
                    <a:pt x="54385" y="469266"/>
                  </a:lnTo>
                  <a:cubicBezTo>
                    <a:pt x="39961" y="469266"/>
                    <a:pt x="26128" y="463536"/>
                    <a:pt x="15929" y="453337"/>
                  </a:cubicBezTo>
                  <a:cubicBezTo>
                    <a:pt x="5730" y="443138"/>
                    <a:pt x="0" y="429305"/>
                    <a:pt x="0" y="414881"/>
                  </a:cubicBezTo>
                  <a:lnTo>
                    <a:pt x="0" y="54385"/>
                  </a:lnTo>
                  <a:cubicBezTo>
                    <a:pt x="0" y="24349"/>
                    <a:pt x="24349" y="0"/>
                    <a:pt x="5438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586703" cy="469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70651" y="5848113"/>
            <a:ext cx="3416504" cy="2732638"/>
            <a:chOff x="0" y="0"/>
            <a:chExt cx="586703" cy="4692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703" cy="469266"/>
            </a:xfrm>
            <a:custGeom>
              <a:avLst/>
              <a:gdLst/>
              <a:ahLst/>
              <a:cxnLst/>
              <a:rect l="l" t="t" r="r" b="b"/>
              <a:pathLst>
                <a:path w="586703" h="469266">
                  <a:moveTo>
                    <a:pt x="54385" y="0"/>
                  </a:moveTo>
                  <a:lnTo>
                    <a:pt x="532319" y="0"/>
                  </a:lnTo>
                  <a:cubicBezTo>
                    <a:pt x="546742" y="0"/>
                    <a:pt x="560575" y="5730"/>
                    <a:pt x="570774" y="15929"/>
                  </a:cubicBezTo>
                  <a:cubicBezTo>
                    <a:pt x="580974" y="26128"/>
                    <a:pt x="586703" y="39961"/>
                    <a:pt x="586703" y="54385"/>
                  </a:cubicBezTo>
                  <a:lnTo>
                    <a:pt x="586703" y="414881"/>
                  </a:lnTo>
                  <a:cubicBezTo>
                    <a:pt x="586703" y="444917"/>
                    <a:pt x="562354" y="469266"/>
                    <a:pt x="532319" y="469266"/>
                  </a:cubicBezTo>
                  <a:lnTo>
                    <a:pt x="54385" y="469266"/>
                  </a:lnTo>
                  <a:cubicBezTo>
                    <a:pt x="39961" y="469266"/>
                    <a:pt x="26128" y="463536"/>
                    <a:pt x="15929" y="453337"/>
                  </a:cubicBezTo>
                  <a:cubicBezTo>
                    <a:pt x="5730" y="443138"/>
                    <a:pt x="0" y="429305"/>
                    <a:pt x="0" y="414881"/>
                  </a:cubicBezTo>
                  <a:lnTo>
                    <a:pt x="0" y="54385"/>
                  </a:lnTo>
                  <a:cubicBezTo>
                    <a:pt x="0" y="24349"/>
                    <a:pt x="24349" y="0"/>
                    <a:pt x="5438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586703" cy="469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576152" y="5903731"/>
            <a:ext cx="3385464" cy="245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35"/>
              </a:lnSpc>
            </a:pPr>
            <a:r>
              <a:rPr lang="en-US" sz="3686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With</a:t>
            </a:r>
          </a:p>
          <a:p>
            <a:pPr marL="0" lvl="0" indent="0" algn="ctr">
              <a:lnSpc>
                <a:spcPts val="6635"/>
              </a:lnSpc>
            </a:pPr>
            <a:r>
              <a:rPr lang="en-US" sz="3686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Lexical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0344" y="5730719"/>
            <a:ext cx="3856578" cy="273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80"/>
              </a:lnSpc>
            </a:pPr>
            <a:r>
              <a:rPr lang="en-US" sz="4155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Without</a:t>
            </a:r>
          </a:p>
          <a:p>
            <a:pPr marL="0" lvl="0" indent="0" algn="ctr">
              <a:lnSpc>
                <a:spcPts val="7480"/>
              </a:lnSpc>
            </a:pPr>
            <a:r>
              <a:rPr lang="en-US" sz="4155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Lexical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5531278" y="-14608"/>
            <a:ext cx="7225443" cy="18288000"/>
            <a:chOff x="0" y="0"/>
            <a:chExt cx="1902997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2997" cy="4816592"/>
            </a:xfrm>
            <a:custGeom>
              <a:avLst/>
              <a:gdLst/>
              <a:ahLst/>
              <a:cxnLst/>
              <a:rect l="l" t="t" r="r" b="b"/>
              <a:pathLst>
                <a:path w="1902997" h="4816592">
                  <a:moveTo>
                    <a:pt x="0" y="0"/>
                  </a:moveTo>
                  <a:lnTo>
                    <a:pt x="1902997" y="0"/>
                  </a:lnTo>
                  <a:lnTo>
                    <a:pt x="190299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2997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3263" y="5516670"/>
            <a:ext cx="3465036" cy="3614234"/>
            <a:chOff x="0" y="0"/>
            <a:chExt cx="912602" cy="9518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2602" cy="951897"/>
            </a:xfrm>
            <a:custGeom>
              <a:avLst/>
              <a:gdLst/>
              <a:ahLst/>
              <a:cxnLst/>
              <a:rect l="l" t="t" r="r" b="b"/>
              <a:pathLst>
                <a:path w="912602" h="951897">
                  <a:moveTo>
                    <a:pt x="113949" y="0"/>
                  </a:moveTo>
                  <a:lnTo>
                    <a:pt x="798653" y="0"/>
                  </a:lnTo>
                  <a:cubicBezTo>
                    <a:pt x="861585" y="0"/>
                    <a:pt x="912602" y="51017"/>
                    <a:pt x="912602" y="113949"/>
                  </a:cubicBezTo>
                  <a:lnTo>
                    <a:pt x="912602" y="837948"/>
                  </a:lnTo>
                  <a:cubicBezTo>
                    <a:pt x="912602" y="868169"/>
                    <a:pt x="900597" y="897152"/>
                    <a:pt x="879227" y="918522"/>
                  </a:cubicBezTo>
                  <a:cubicBezTo>
                    <a:pt x="857858" y="939892"/>
                    <a:pt x="828874" y="951897"/>
                    <a:pt x="798653" y="951897"/>
                  </a:cubicBezTo>
                  <a:lnTo>
                    <a:pt x="113949" y="951897"/>
                  </a:lnTo>
                  <a:cubicBezTo>
                    <a:pt x="51017" y="951897"/>
                    <a:pt x="0" y="900880"/>
                    <a:pt x="0" y="837948"/>
                  </a:cubicBezTo>
                  <a:lnTo>
                    <a:pt x="0" y="113949"/>
                  </a:lnTo>
                  <a:cubicBezTo>
                    <a:pt x="0" y="83728"/>
                    <a:pt x="12005" y="54745"/>
                    <a:pt x="33375" y="33375"/>
                  </a:cubicBezTo>
                  <a:cubicBezTo>
                    <a:pt x="54745" y="12005"/>
                    <a:pt x="83728" y="0"/>
                    <a:pt x="113949" y="0"/>
                  </a:cubicBezTo>
                  <a:close/>
                </a:path>
              </a:pathLst>
            </a:custGeom>
            <a:solidFill>
              <a:srgbClr val="282626">
                <a:alpha val="9490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2602" cy="989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20538" y="5516670"/>
            <a:ext cx="3465036" cy="3614234"/>
            <a:chOff x="0" y="0"/>
            <a:chExt cx="912602" cy="9518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602" cy="951897"/>
            </a:xfrm>
            <a:custGeom>
              <a:avLst/>
              <a:gdLst/>
              <a:ahLst/>
              <a:cxnLst/>
              <a:rect l="l" t="t" r="r" b="b"/>
              <a:pathLst>
                <a:path w="912602" h="951897">
                  <a:moveTo>
                    <a:pt x="113949" y="0"/>
                  </a:moveTo>
                  <a:lnTo>
                    <a:pt x="798653" y="0"/>
                  </a:lnTo>
                  <a:cubicBezTo>
                    <a:pt x="861585" y="0"/>
                    <a:pt x="912602" y="51017"/>
                    <a:pt x="912602" y="113949"/>
                  </a:cubicBezTo>
                  <a:lnTo>
                    <a:pt x="912602" y="837948"/>
                  </a:lnTo>
                  <a:cubicBezTo>
                    <a:pt x="912602" y="868169"/>
                    <a:pt x="900597" y="897152"/>
                    <a:pt x="879227" y="918522"/>
                  </a:cubicBezTo>
                  <a:cubicBezTo>
                    <a:pt x="857858" y="939892"/>
                    <a:pt x="828874" y="951897"/>
                    <a:pt x="798653" y="951897"/>
                  </a:cubicBezTo>
                  <a:lnTo>
                    <a:pt x="113949" y="951897"/>
                  </a:lnTo>
                  <a:cubicBezTo>
                    <a:pt x="51017" y="951897"/>
                    <a:pt x="0" y="900880"/>
                    <a:pt x="0" y="837948"/>
                  </a:cubicBezTo>
                  <a:lnTo>
                    <a:pt x="0" y="113949"/>
                  </a:lnTo>
                  <a:cubicBezTo>
                    <a:pt x="0" y="83728"/>
                    <a:pt x="12005" y="54745"/>
                    <a:pt x="33375" y="33375"/>
                  </a:cubicBezTo>
                  <a:cubicBezTo>
                    <a:pt x="54745" y="12005"/>
                    <a:pt x="83728" y="0"/>
                    <a:pt x="113949" y="0"/>
                  </a:cubicBezTo>
                  <a:close/>
                </a:path>
              </a:pathLst>
            </a:custGeom>
            <a:solidFill>
              <a:srgbClr val="282626">
                <a:alpha val="9490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12602" cy="989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97813" y="5516670"/>
            <a:ext cx="3465036" cy="3612722"/>
            <a:chOff x="0" y="0"/>
            <a:chExt cx="912602" cy="9514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2602" cy="951499"/>
            </a:xfrm>
            <a:custGeom>
              <a:avLst/>
              <a:gdLst/>
              <a:ahLst/>
              <a:cxnLst/>
              <a:rect l="l" t="t" r="r" b="b"/>
              <a:pathLst>
                <a:path w="912602" h="951499">
                  <a:moveTo>
                    <a:pt x="113949" y="0"/>
                  </a:moveTo>
                  <a:lnTo>
                    <a:pt x="798653" y="0"/>
                  </a:lnTo>
                  <a:cubicBezTo>
                    <a:pt x="861585" y="0"/>
                    <a:pt x="912602" y="51017"/>
                    <a:pt x="912602" y="113949"/>
                  </a:cubicBezTo>
                  <a:lnTo>
                    <a:pt x="912602" y="837550"/>
                  </a:lnTo>
                  <a:cubicBezTo>
                    <a:pt x="912602" y="867771"/>
                    <a:pt x="900597" y="896754"/>
                    <a:pt x="879227" y="918124"/>
                  </a:cubicBezTo>
                  <a:cubicBezTo>
                    <a:pt x="857858" y="939493"/>
                    <a:pt x="828874" y="951499"/>
                    <a:pt x="798653" y="951499"/>
                  </a:cubicBezTo>
                  <a:lnTo>
                    <a:pt x="113949" y="951499"/>
                  </a:lnTo>
                  <a:cubicBezTo>
                    <a:pt x="51017" y="951499"/>
                    <a:pt x="0" y="900482"/>
                    <a:pt x="0" y="837550"/>
                  </a:cubicBezTo>
                  <a:lnTo>
                    <a:pt x="0" y="113949"/>
                  </a:lnTo>
                  <a:cubicBezTo>
                    <a:pt x="0" y="83728"/>
                    <a:pt x="12005" y="54745"/>
                    <a:pt x="33375" y="33375"/>
                  </a:cubicBezTo>
                  <a:cubicBezTo>
                    <a:pt x="54745" y="12005"/>
                    <a:pt x="83728" y="0"/>
                    <a:pt x="113949" y="0"/>
                  </a:cubicBezTo>
                  <a:close/>
                </a:path>
              </a:pathLst>
            </a:custGeom>
            <a:solidFill>
              <a:srgbClr val="282626">
                <a:alpha val="94902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12602" cy="9895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72450" y="5515158"/>
            <a:ext cx="3465036" cy="3614234"/>
            <a:chOff x="0" y="0"/>
            <a:chExt cx="912602" cy="9518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2602" cy="951897"/>
            </a:xfrm>
            <a:custGeom>
              <a:avLst/>
              <a:gdLst/>
              <a:ahLst/>
              <a:cxnLst/>
              <a:rect l="l" t="t" r="r" b="b"/>
              <a:pathLst>
                <a:path w="912602" h="951897">
                  <a:moveTo>
                    <a:pt x="113949" y="0"/>
                  </a:moveTo>
                  <a:lnTo>
                    <a:pt x="798653" y="0"/>
                  </a:lnTo>
                  <a:cubicBezTo>
                    <a:pt x="861585" y="0"/>
                    <a:pt x="912602" y="51017"/>
                    <a:pt x="912602" y="113949"/>
                  </a:cubicBezTo>
                  <a:lnTo>
                    <a:pt x="912602" y="837948"/>
                  </a:lnTo>
                  <a:cubicBezTo>
                    <a:pt x="912602" y="868169"/>
                    <a:pt x="900597" y="897152"/>
                    <a:pt x="879227" y="918522"/>
                  </a:cubicBezTo>
                  <a:cubicBezTo>
                    <a:pt x="857858" y="939892"/>
                    <a:pt x="828874" y="951897"/>
                    <a:pt x="798653" y="951897"/>
                  </a:cubicBezTo>
                  <a:lnTo>
                    <a:pt x="113949" y="951897"/>
                  </a:lnTo>
                  <a:cubicBezTo>
                    <a:pt x="51017" y="951897"/>
                    <a:pt x="0" y="900880"/>
                    <a:pt x="0" y="837948"/>
                  </a:cubicBezTo>
                  <a:lnTo>
                    <a:pt x="0" y="113949"/>
                  </a:lnTo>
                  <a:cubicBezTo>
                    <a:pt x="0" y="83728"/>
                    <a:pt x="12005" y="54745"/>
                    <a:pt x="33375" y="33375"/>
                  </a:cubicBezTo>
                  <a:cubicBezTo>
                    <a:pt x="54745" y="12005"/>
                    <a:pt x="83728" y="0"/>
                    <a:pt x="113949" y="0"/>
                  </a:cubicBezTo>
                  <a:close/>
                </a:path>
              </a:pathLst>
            </a:custGeom>
            <a:solidFill>
              <a:srgbClr val="282626">
                <a:alpha val="94902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12602" cy="989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231530" y="5147740"/>
            <a:ext cx="1598467" cy="1359616"/>
          </a:xfrm>
          <a:custGeom>
            <a:avLst/>
            <a:gdLst/>
            <a:ahLst/>
            <a:cxnLst/>
            <a:rect l="l" t="t" r="r" b="b"/>
            <a:pathLst>
              <a:path w="1598467" h="1359616">
                <a:moveTo>
                  <a:pt x="0" y="0"/>
                </a:moveTo>
                <a:lnTo>
                  <a:pt x="1598467" y="0"/>
                </a:lnTo>
                <a:lnTo>
                  <a:pt x="1598467" y="1359616"/>
                </a:lnTo>
                <a:lnTo>
                  <a:pt x="0" y="1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606689" y="5100728"/>
            <a:ext cx="3092735" cy="1014011"/>
          </a:xfrm>
          <a:custGeom>
            <a:avLst/>
            <a:gdLst/>
            <a:ahLst/>
            <a:cxnLst/>
            <a:rect l="l" t="t" r="r" b="b"/>
            <a:pathLst>
              <a:path w="3092735" h="1014011">
                <a:moveTo>
                  <a:pt x="0" y="0"/>
                </a:moveTo>
                <a:lnTo>
                  <a:pt x="3092735" y="0"/>
                </a:lnTo>
                <a:lnTo>
                  <a:pt x="3092735" y="1014011"/>
                </a:lnTo>
                <a:lnTo>
                  <a:pt x="0" y="1014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510974" y="5158500"/>
            <a:ext cx="1452844" cy="1352099"/>
          </a:xfrm>
          <a:custGeom>
            <a:avLst/>
            <a:gdLst/>
            <a:ahLst/>
            <a:cxnLst/>
            <a:rect l="l" t="t" r="r" b="b"/>
            <a:pathLst>
              <a:path w="1452844" h="1352099">
                <a:moveTo>
                  <a:pt x="0" y="0"/>
                </a:moveTo>
                <a:lnTo>
                  <a:pt x="1452844" y="0"/>
                </a:lnTo>
                <a:lnTo>
                  <a:pt x="1452844" y="1352099"/>
                </a:lnTo>
                <a:lnTo>
                  <a:pt x="0" y="1352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705826" y="5100728"/>
            <a:ext cx="1209102" cy="1604076"/>
          </a:xfrm>
          <a:custGeom>
            <a:avLst/>
            <a:gdLst/>
            <a:ahLst/>
            <a:cxnLst/>
            <a:rect l="l" t="t" r="r" b="b"/>
            <a:pathLst>
              <a:path w="1209102" h="1604076">
                <a:moveTo>
                  <a:pt x="0" y="0"/>
                </a:moveTo>
                <a:lnTo>
                  <a:pt x="1209103" y="0"/>
                </a:lnTo>
                <a:lnTo>
                  <a:pt x="1209103" y="1604076"/>
                </a:lnTo>
                <a:lnTo>
                  <a:pt x="0" y="160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343263" y="2385776"/>
            <a:ext cx="15601474" cy="177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59"/>
              </a:lnSpc>
            </a:pPr>
            <a:r>
              <a:rPr lang="en-US" sz="2699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The lexical analyzer reads source code character by character and groups them into meaningful tokens. This page demonstrates how a simple source code statement is transformed into a structured token stream that subsequent compiler phases can process efficiently.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32429" y="952500"/>
            <a:ext cx="14023142" cy="64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4"/>
              </a:lnSpc>
              <a:spcBef>
                <a:spcPct val="0"/>
              </a:spcBef>
            </a:pPr>
            <a:r>
              <a:rPr lang="en-US" sz="38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Input and Output of Lexical Analyzer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5217" y="6787593"/>
            <a:ext cx="5361128" cy="145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31"/>
              </a:lnSpc>
            </a:pPr>
            <a:r>
              <a:rPr lang="en-US" sz="3350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Input</a:t>
            </a:r>
          </a:p>
          <a:p>
            <a:pPr marL="0" lvl="0" indent="0" algn="ctr">
              <a:lnSpc>
                <a:spcPts val="6031"/>
              </a:lnSpc>
            </a:pPr>
            <a:r>
              <a:rPr lang="en-US" sz="3350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int total = 100;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08299" y="6738239"/>
            <a:ext cx="4694792" cy="1457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67"/>
              </a:lnSpc>
            </a:pPr>
            <a:r>
              <a:rPr lang="en-US" sz="3370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Output</a:t>
            </a:r>
          </a:p>
          <a:p>
            <a:pPr marL="0" lvl="0" indent="0" algn="ctr">
              <a:lnSpc>
                <a:spcPts val="6067"/>
              </a:lnSpc>
            </a:pPr>
            <a:r>
              <a:rPr lang="en-US" sz="3370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Token Stream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85574" y="6893174"/>
            <a:ext cx="4694792" cy="145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67"/>
              </a:lnSpc>
            </a:pPr>
            <a:r>
              <a:rPr lang="en-US" sz="3370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Lexeme → Token</a:t>
            </a:r>
          </a:p>
          <a:p>
            <a:pPr marL="0" lvl="0" indent="0" algn="ctr">
              <a:lnSpc>
                <a:spcPts val="6067"/>
              </a:lnSpc>
            </a:pPr>
            <a:r>
              <a:rPr lang="en-US" sz="3370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int → Keyword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57572" y="6893174"/>
            <a:ext cx="4694792" cy="145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67"/>
              </a:lnSpc>
            </a:pPr>
            <a:r>
              <a:rPr lang="en-US" sz="3370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100 → Number</a:t>
            </a:r>
          </a:p>
          <a:p>
            <a:pPr marL="0" lvl="0" indent="0" algn="ctr">
              <a:lnSpc>
                <a:spcPts val="6067"/>
              </a:lnSpc>
            </a:pPr>
            <a:r>
              <a:rPr lang="en-US" sz="3370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; → Delimiter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846585" y="5740917"/>
            <a:ext cx="13399778" cy="19092948"/>
          </a:xfrm>
          <a:custGeom>
            <a:avLst/>
            <a:gdLst/>
            <a:ahLst/>
            <a:cxnLst/>
            <a:rect l="l" t="t" r="r" b="b"/>
            <a:pathLst>
              <a:path w="13399778" h="19092948">
                <a:moveTo>
                  <a:pt x="0" y="0"/>
                </a:moveTo>
                <a:lnTo>
                  <a:pt x="13399778" y="0"/>
                </a:lnTo>
                <a:lnTo>
                  <a:pt x="13399778" y="19092947"/>
                </a:lnTo>
                <a:lnTo>
                  <a:pt x="0" y="190929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73166" y="-876256"/>
            <a:ext cx="19966114" cy="1904956"/>
            <a:chOff x="0" y="0"/>
            <a:chExt cx="3428706" cy="32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28706" cy="327131"/>
            </a:xfrm>
            <a:custGeom>
              <a:avLst/>
              <a:gdLst/>
              <a:ahLst/>
              <a:cxnLst/>
              <a:rect l="l" t="t" r="r" b="b"/>
              <a:pathLst>
                <a:path w="3428706" h="327131">
                  <a:moveTo>
                    <a:pt x="9306" y="0"/>
                  </a:moveTo>
                  <a:lnTo>
                    <a:pt x="3419400" y="0"/>
                  </a:lnTo>
                  <a:cubicBezTo>
                    <a:pt x="3421868" y="0"/>
                    <a:pt x="3424235" y="980"/>
                    <a:pt x="3425980" y="2726"/>
                  </a:cubicBezTo>
                  <a:cubicBezTo>
                    <a:pt x="3427726" y="4471"/>
                    <a:pt x="3428706" y="6838"/>
                    <a:pt x="3428706" y="9306"/>
                  </a:cubicBezTo>
                  <a:lnTo>
                    <a:pt x="3428706" y="317825"/>
                  </a:lnTo>
                  <a:cubicBezTo>
                    <a:pt x="3428706" y="320293"/>
                    <a:pt x="3427726" y="322660"/>
                    <a:pt x="3425980" y="324405"/>
                  </a:cubicBezTo>
                  <a:cubicBezTo>
                    <a:pt x="3424235" y="326151"/>
                    <a:pt x="3421868" y="327131"/>
                    <a:pt x="3419400" y="327131"/>
                  </a:cubicBezTo>
                  <a:lnTo>
                    <a:pt x="9306" y="327131"/>
                  </a:lnTo>
                  <a:cubicBezTo>
                    <a:pt x="6838" y="327131"/>
                    <a:pt x="4471" y="326151"/>
                    <a:pt x="2726" y="324405"/>
                  </a:cubicBezTo>
                  <a:cubicBezTo>
                    <a:pt x="980" y="322660"/>
                    <a:pt x="0" y="320293"/>
                    <a:pt x="0" y="317825"/>
                  </a:cubicBezTo>
                  <a:lnTo>
                    <a:pt x="0" y="9306"/>
                  </a:lnTo>
                  <a:cubicBezTo>
                    <a:pt x="0" y="6838"/>
                    <a:pt x="980" y="4471"/>
                    <a:pt x="2726" y="2726"/>
                  </a:cubicBezTo>
                  <a:cubicBezTo>
                    <a:pt x="4471" y="980"/>
                    <a:pt x="6838" y="0"/>
                    <a:pt x="9306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428706" cy="327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293739"/>
            <a:ext cx="9593846" cy="1346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415"/>
              </a:lnSpc>
              <a:spcBef>
                <a:spcPct val="0"/>
              </a:spcBef>
            </a:pPr>
            <a:r>
              <a:rPr lang="en-US" sz="815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Types of Tokens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4239844"/>
            <a:ext cx="7860270" cy="292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3393" lvl="1" indent="-236696" algn="l">
              <a:lnSpc>
                <a:spcPts val="3946"/>
              </a:lnSpc>
              <a:buFont typeface="Arial"/>
              <a:buChar char="•"/>
            </a:pPr>
            <a:r>
              <a:rPr lang="en-US" sz="2192" dirty="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Tokens are the fundamental building blocks recognized by the lexical analyzer.</a:t>
            </a:r>
          </a:p>
          <a:p>
            <a:pPr algn="l">
              <a:lnSpc>
                <a:spcPts val="3946"/>
              </a:lnSpc>
            </a:pPr>
            <a:endParaRPr lang="en-US" sz="2192" dirty="0">
              <a:solidFill>
                <a:srgbClr val="C9A22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73393" lvl="1" indent="-236696" algn="l">
              <a:lnSpc>
                <a:spcPts val="3946"/>
              </a:lnSpc>
              <a:buFont typeface="Arial"/>
              <a:buChar char="•"/>
            </a:pPr>
            <a:r>
              <a:rPr lang="en-US" sz="2192" dirty="0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 Each token type serves a specific purpose in programming language syntax, enabling the compiler to understand and process source code correctly.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06347" y="1699498"/>
            <a:ext cx="5479398" cy="70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604" lvl="1" indent="-355802" algn="l">
              <a:lnSpc>
                <a:spcPts val="5932"/>
              </a:lnSpc>
              <a:buAutoNum type="arabicPeriod"/>
            </a:pPr>
            <a:r>
              <a:rPr lang="en-US" sz="3295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Keywords (int, float, if)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06347" y="2928312"/>
            <a:ext cx="5479398" cy="70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604" lvl="1" indent="-355802" algn="l">
              <a:lnSpc>
                <a:spcPts val="5932"/>
              </a:lnSpc>
              <a:buAutoNum type="arabicPeriod"/>
            </a:pPr>
            <a:r>
              <a:rPr lang="en-US" sz="3295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Identifiers (total, count)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06347" y="4671389"/>
            <a:ext cx="5479398" cy="70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604" lvl="1" indent="-355802" algn="l">
              <a:lnSpc>
                <a:spcPts val="5932"/>
              </a:lnSpc>
              <a:buAutoNum type="arabicPeriod"/>
            </a:pPr>
            <a:r>
              <a:rPr lang="en-US" sz="3295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Operators (+, -, =)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06347" y="6419225"/>
            <a:ext cx="6252953" cy="1453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604" lvl="1" indent="-355802" algn="l">
              <a:lnSpc>
                <a:spcPts val="5932"/>
              </a:lnSpc>
              <a:buAutoNum type="arabicPeriod"/>
            </a:pPr>
            <a:r>
              <a:rPr lang="en-US" sz="3295" b="1">
                <a:solidFill>
                  <a:srgbClr val="C9A227"/>
                </a:solidFill>
                <a:latin typeface="Inter Bold"/>
                <a:ea typeface="Inter Bold"/>
                <a:cs typeface="Inter Bold"/>
                <a:sym typeface="Inter Bold"/>
              </a:rPr>
              <a:t>Delimiters &amp; Constants (;, 100, "Hello")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846585" y="6414077"/>
            <a:ext cx="13399778" cy="19092948"/>
          </a:xfrm>
          <a:custGeom>
            <a:avLst/>
            <a:gdLst/>
            <a:ahLst/>
            <a:cxnLst/>
            <a:rect l="l" t="t" r="r" b="b"/>
            <a:pathLst>
              <a:path w="13399778" h="19092948">
                <a:moveTo>
                  <a:pt x="0" y="0"/>
                </a:moveTo>
                <a:lnTo>
                  <a:pt x="13399778" y="0"/>
                </a:lnTo>
                <a:lnTo>
                  <a:pt x="13399778" y="19092948"/>
                </a:lnTo>
                <a:lnTo>
                  <a:pt x="0" y="19092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1000" y="666150"/>
            <a:ext cx="6954301" cy="1904956"/>
            <a:chOff x="0" y="0"/>
            <a:chExt cx="1093329" cy="32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3329" cy="327131"/>
            </a:xfrm>
            <a:custGeom>
              <a:avLst/>
              <a:gdLst/>
              <a:ahLst/>
              <a:cxnLst/>
              <a:rect l="l" t="t" r="r" b="b"/>
              <a:pathLst>
                <a:path w="1093329" h="327131">
                  <a:moveTo>
                    <a:pt x="29184" y="0"/>
                  </a:moveTo>
                  <a:lnTo>
                    <a:pt x="1064145" y="0"/>
                  </a:lnTo>
                  <a:cubicBezTo>
                    <a:pt x="1080263" y="0"/>
                    <a:pt x="1093329" y="13066"/>
                    <a:pt x="1093329" y="29184"/>
                  </a:cubicBezTo>
                  <a:lnTo>
                    <a:pt x="1093329" y="297947"/>
                  </a:lnTo>
                  <a:cubicBezTo>
                    <a:pt x="1093329" y="314065"/>
                    <a:pt x="1080263" y="327131"/>
                    <a:pt x="1064145" y="327131"/>
                  </a:cubicBezTo>
                  <a:lnTo>
                    <a:pt x="29184" y="327131"/>
                  </a:lnTo>
                  <a:cubicBezTo>
                    <a:pt x="21444" y="327131"/>
                    <a:pt x="14021" y="324056"/>
                    <a:pt x="8548" y="318583"/>
                  </a:cubicBezTo>
                  <a:cubicBezTo>
                    <a:pt x="3075" y="313110"/>
                    <a:pt x="0" y="305687"/>
                    <a:pt x="0" y="297947"/>
                  </a:cubicBezTo>
                  <a:lnTo>
                    <a:pt x="0" y="29184"/>
                  </a:lnTo>
                  <a:cubicBezTo>
                    <a:pt x="0" y="21444"/>
                    <a:pt x="3075" y="14021"/>
                    <a:pt x="8548" y="8548"/>
                  </a:cubicBezTo>
                  <a:cubicBezTo>
                    <a:pt x="14021" y="3075"/>
                    <a:pt x="21444" y="0"/>
                    <a:pt x="29184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093329" cy="327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2526" y="2723580"/>
            <a:ext cx="9835670" cy="7209899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30434" y="557159"/>
            <a:ext cx="6954301" cy="20139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70"/>
              </a:lnSpc>
              <a:spcBef>
                <a:spcPct val="0"/>
              </a:spcBef>
            </a:pPr>
            <a:r>
              <a:rPr lang="en-US" sz="5835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Lexical Errors and Symbol Table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49232" y="4756192"/>
            <a:ext cx="9538768" cy="3218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794" lvl="1" indent="-257897" algn="l">
              <a:lnSpc>
                <a:spcPts val="4300"/>
              </a:lnSpc>
              <a:buFont typeface="Arial"/>
              <a:buChar char="•"/>
            </a:pPr>
            <a:r>
              <a:rPr lang="en-US" sz="2389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Lexical errors occur when the scanner encounters invalid patterns: identifiers starting with digits like "123abc" or unrecognized symbols like "@".</a:t>
            </a:r>
          </a:p>
          <a:p>
            <a:pPr marL="515794" lvl="1" indent="-257897" algn="l">
              <a:lnSpc>
                <a:spcPts val="4300"/>
              </a:lnSpc>
              <a:buFont typeface="Arial"/>
              <a:buChar char="•"/>
            </a:pPr>
            <a:r>
              <a:rPr lang="en-US" sz="2389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 These break tokenization rules and must be caught early.</a:t>
            </a:r>
          </a:p>
          <a:p>
            <a:pPr marL="515794" lvl="1" indent="-257897" algn="l">
              <a:lnSpc>
                <a:spcPts val="4300"/>
              </a:lnSpc>
              <a:buFont typeface="Arial"/>
              <a:buChar char="•"/>
            </a:pPr>
            <a:r>
              <a:rPr lang="en-US" sz="2389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The symbol table stores all identifiers with their data types for fast lookup and scope management during compilation.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50169" y="1433329"/>
            <a:ext cx="3416504" cy="2732638"/>
            <a:chOff x="0" y="0"/>
            <a:chExt cx="586703" cy="4692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6703" cy="469266"/>
            </a:xfrm>
            <a:custGeom>
              <a:avLst/>
              <a:gdLst/>
              <a:ahLst/>
              <a:cxnLst/>
              <a:rect l="l" t="t" r="r" b="b"/>
              <a:pathLst>
                <a:path w="586703" h="469266">
                  <a:moveTo>
                    <a:pt x="54385" y="0"/>
                  </a:moveTo>
                  <a:lnTo>
                    <a:pt x="532319" y="0"/>
                  </a:lnTo>
                  <a:cubicBezTo>
                    <a:pt x="546742" y="0"/>
                    <a:pt x="560575" y="5730"/>
                    <a:pt x="570774" y="15929"/>
                  </a:cubicBezTo>
                  <a:cubicBezTo>
                    <a:pt x="580974" y="26128"/>
                    <a:pt x="586703" y="39961"/>
                    <a:pt x="586703" y="54385"/>
                  </a:cubicBezTo>
                  <a:lnTo>
                    <a:pt x="586703" y="414881"/>
                  </a:lnTo>
                  <a:cubicBezTo>
                    <a:pt x="586703" y="444917"/>
                    <a:pt x="562354" y="469266"/>
                    <a:pt x="532319" y="469266"/>
                  </a:cubicBezTo>
                  <a:lnTo>
                    <a:pt x="54385" y="469266"/>
                  </a:lnTo>
                  <a:cubicBezTo>
                    <a:pt x="39961" y="469266"/>
                    <a:pt x="26128" y="463536"/>
                    <a:pt x="15929" y="453337"/>
                  </a:cubicBezTo>
                  <a:cubicBezTo>
                    <a:pt x="5730" y="443138"/>
                    <a:pt x="0" y="429305"/>
                    <a:pt x="0" y="414881"/>
                  </a:cubicBezTo>
                  <a:lnTo>
                    <a:pt x="0" y="54385"/>
                  </a:lnTo>
                  <a:cubicBezTo>
                    <a:pt x="0" y="24349"/>
                    <a:pt x="24349" y="0"/>
                    <a:pt x="5438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86703" cy="469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989300" y="1433329"/>
            <a:ext cx="3416504" cy="2732638"/>
            <a:chOff x="0" y="0"/>
            <a:chExt cx="586703" cy="4692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6703" cy="469266"/>
            </a:xfrm>
            <a:custGeom>
              <a:avLst/>
              <a:gdLst/>
              <a:ahLst/>
              <a:cxnLst/>
              <a:rect l="l" t="t" r="r" b="b"/>
              <a:pathLst>
                <a:path w="586703" h="469266">
                  <a:moveTo>
                    <a:pt x="54385" y="0"/>
                  </a:moveTo>
                  <a:lnTo>
                    <a:pt x="532319" y="0"/>
                  </a:lnTo>
                  <a:cubicBezTo>
                    <a:pt x="546742" y="0"/>
                    <a:pt x="560575" y="5730"/>
                    <a:pt x="570774" y="15929"/>
                  </a:cubicBezTo>
                  <a:cubicBezTo>
                    <a:pt x="580974" y="26128"/>
                    <a:pt x="586703" y="39961"/>
                    <a:pt x="586703" y="54385"/>
                  </a:cubicBezTo>
                  <a:lnTo>
                    <a:pt x="586703" y="414881"/>
                  </a:lnTo>
                  <a:cubicBezTo>
                    <a:pt x="586703" y="444917"/>
                    <a:pt x="562354" y="469266"/>
                    <a:pt x="532319" y="469266"/>
                  </a:cubicBezTo>
                  <a:lnTo>
                    <a:pt x="54385" y="469266"/>
                  </a:lnTo>
                  <a:cubicBezTo>
                    <a:pt x="39961" y="469266"/>
                    <a:pt x="26128" y="463536"/>
                    <a:pt x="15929" y="453337"/>
                  </a:cubicBezTo>
                  <a:cubicBezTo>
                    <a:pt x="5730" y="443138"/>
                    <a:pt x="0" y="429305"/>
                    <a:pt x="0" y="414881"/>
                  </a:cubicBezTo>
                  <a:lnTo>
                    <a:pt x="0" y="54385"/>
                  </a:lnTo>
                  <a:cubicBezTo>
                    <a:pt x="0" y="24349"/>
                    <a:pt x="24349" y="0"/>
                    <a:pt x="5438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86703" cy="469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746682" y="2366697"/>
            <a:ext cx="3901740" cy="724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75"/>
              </a:lnSpc>
            </a:pPr>
            <a:r>
              <a:rPr lang="en-US" sz="3486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Symbol table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1816610"/>
            <a:ext cx="4650848" cy="179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80"/>
              </a:lnSpc>
            </a:pPr>
            <a:r>
              <a:rPr lang="en-US" sz="4155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Lexical</a:t>
            </a:r>
          </a:p>
          <a:p>
            <a:pPr marL="0" lvl="0" indent="0" algn="ctr">
              <a:lnSpc>
                <a:spcPts val="7480"/>
              </a:lnSpc>
            </a:pPr>
            <a:r>
              <a:rPr lang="en-US" sz="4155" b="1">
                <a:solidFill>
                  <a:srgbClr val="262424"/>
                </a:solidFill>
                <a:latin typeface="Inter Bold"/>
                <a:ea typeface="Inter Bold"/>
                <a:cs typeface="Inter Bold"/>
                <a:sym typeface="Inter Bold"/>
              </a:rPr>
              <a:t>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846585" y="6414077"/>
            <a:ext cx="13399778" cy="19092948"/>
          </a:xfrm>
          <a:custGeom>
            <a:avLst/>
            <a:gdLst/>
            <a:ahLst/>
            <a:cxnLst/>
            <a:rect l="l" t="t" r="r" b="b"/>
            <a:pathLst>
              <a:path w="13399778" h="19092948">
                <a:moveTo>
                  <a:pt x="0" y="0"/>
                </a:moveTo>
                <a:lnTo>
                  <a:pt x="13399778" y="0"/>
                </a:lnTo>
                <a:lnTo>
                  <a:pt x="13399778" y="19092948"/>
                </a:lnTo>
                <a:lnTo>
                  <a:pt x="0" y="19092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70863" y="1305435"/>
            <a:ext cx="6507372" cy="1474531"/>
            <a:chOff x="0" y="0"/>
            <a:chExt cx="1713876" cy="3883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3876" cy="388354"/>
            </a:xfrm>
            <a:custGeom>
              <a:avLst/>
              <a:gdLst/>
              <a:ahLst/>
              <a:cxnLst/>
              <a:rect l="l" t="t" r="r" b="b"/>
              <a:pathLst>
                <a:path w="1713876" h="388354">
                  <a:moveTo>
                    <a:pt x="60675" y="0"/>
                  </a:moveTo>
                  <a:lnTo>
                    <a:pt x="1653200" y="0"/>
                  </a:lnTo>
                  <a:cubicBezTo>
                    <a:pt x="1669292" y="0"/>
                    <a:pt x="1684725" y="6393"/>
                    <a:pt x="1696104" y="17771"/>
                  </a:cubicBezTo>
                  <a:cubicBezTo>
                    <a:pt x="1707483" y="29150"/>
                    <a:pt x="1713876" y="44583"/>
                    <a:pt x="1713876" y="60675"/>
                  </a:cubicBezTo>
                  <a:lnTo>
                    <a:pt x="1713876" y="327678"/>
                  </a:lnTo>
                  <a:cubicBezTo>
                    <a:pt x="1713876" y="343771"/>
                    <a:pt x="1707483" y="359204"/>
                    <a:pt x="1696104" y="370582"/>
                  </a:cubicBezTo>
                  <a:cubicBezTo>
                    <a:pt x="1684725" y="381961"/>
                    <a:pt x="1669292" y="388354"/>
                    <a:pt x="1653200" y="388354"/>
                  </a:cubicBezTo>
                  <a:lnTo>
                    <a:pt x="60675" y="388354"/>
                  </a:lnTo>
                  <a:cubicBezTo>
                    <a:pt x="44583" y="388354"/>
                    <a:pt x="29150" y="381961"/>
                    <a:pt x="17771" y="370582"/>
                  </a:cubicBezTo>
                  <a:cubicBezTo>
                    <a:pt x="6393" y="359204"/>
                    <a:pt x="0" y="343771"/>
                    <a:pt x="0" y="327678"/>
                  </a:cubicBezTo>
                  <a:lnTo>
                    <a:pt x="0" y="60675"/>
                  </a:lnTo>
                  <a:cubicBezTo>
                    <a:pt x="0" y="44583"/>
                    <a:pt x="6393" y="29150"/>
                    <a:pt x="17771" y="17771"/>
                  </a:cubicBezTo>
                  <a:cubicBezTo>
                    <a:pt x="29150" y="6393"/>
                    <a:pt x="44583" y="0"/>
                    <a:pt x="6067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13876" cy="42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27397" y="885825"/>
            <a:ext cx="8219077" cy="25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34"/>
              </a:lnSpc>
            </a:pPr>
            <a:r>
              <a:rPr lang="en-US" sz="738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Real-Life Example of Tokenization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7397" y="4357951"/>
            <a:ext cx="7731026" cy="361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28"/>
              </a:lnSpc>
            </a:pPr>
            <a:r>
              <a:rPr lang="en-US" sz="2682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Input: float salary = 25000;</a:t>
            </a:r>
          </a:p>
          <a:p>
            <a:pPr marL="0" lvl="0" indent="0" algn="just">
              <a:lnSpc>
                <a:spcPts val="4828"/>
              </a:lnSpc>
            </a:pPr>
            <a:r>
              <a:rPr lang="en-US" sz="2682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Output: Token stream with each lexeme mapped to its token type. This step-by-step breakdown shows how the lexical analyzer processes source code character by character, grouping them into meaningful tokens for the compiler.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70863" y="3327588"/>
            <a:ext cx="6507372" cy="1474531"/>
            <a:chOff x="0" y="0"/>
            <a:chExt cx="1713876" cy="3883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13876" cy="388354"/>
            </a:xfrm>
            <a:custGeom>
              <a:avLst/>
              <a:gdLst/>
              <a:ahLst/>
              <a:cxnLst/>
              <a:rect l="l" t="t" r="r" b="b"/>
              <a:pathLst>
                <a:path w="1713876" h="388354">
                  <a:moveTo>
                    <a:pt x="60675" y="0"/>
                  </a:moveTo>
                  <a:lnTo>
                    <a:pt x="1653200" y="0"/>
                  </a:lnTo>
                  <a:cubicBezTo>
                    <a:pt x="1669292" y="0"/>
                    <a:pt x="1684725" y="6393"/>
                    <a:pt x="1696104" y="17771"/>
                  </a:cubicBezTo>
                  <a:cubicBezTo>
                    <a:pt x="1707483" y="29150"/>
                    <a:pt x="1713876" y="44583"/>
                    <a:pt x="1713876" y="60675"/>
                  </a:cubicBezTo>
                  <a:lnTo>
                    <a:pt x="1713876" y="327678"/>
                  </a:lnTo>
                  <a:cubicBezTo>
                    <a:pt x="1713876" y="343771"/>
                    <a:pt x="1707483" y="359204"/>
                    <a:pt x="1696104" y="370582"/>
                  </a:cubicBezTo>
                  <a:cubicBezTo>
                    <a:pt x="1684725" y="381961"/>
                    <a:pt x="1669292" y="388354"/>
                    <a:pt x="1653200" y="388354"/>
                  </a:cubicBezTo>
                  <a:lnTo>
                    <a:pt x="60675" y="388354"/>
                  </a:lnTo>
                  <a:cubicBezTo>
                    <a:pt x="44583" y="388354"/>
                    <a:pt x="29150" y="381961"/>
                    <a:pt x="17771" y="370582"/>
                  </a:cubicBezTo>
                  <a:cubicBezTo>
                    <a:pt x="6393" y="359204"/>
                    <a:pt x="0" y="343771"/>
                    <a:pt x="0" y="327678"/>
                  </a:cubicBezTo>
                  <a:lnTo>
                    <a:pt x="0" y="60675"/>
                  </a:lnTo>
                  <a:cubicBezTo>
                    <a:pt x="0" y="44583"/>
                    <a:pt x="6393" y="29150"/>
                    <a:pt x="17771" y="17771"/>
                  </a:cubicBezTo>
                  <a:cubicBezTo>
                    <a:pt x="29150" y="6393"/>
                    <a:pt x="44583" y="0"/>
                    <a:pt x="6067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13876" cy="42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70863" y="5349741"/>
            <a:ext cx="6507372" cy="1474531"/>
            <a:chOff x="0" y="0"/>
            <a:chExt cx="1713876" cy="3883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13876" cy="388354"/>
            </a:xfrm>
            <a:custGeom>
              <a:avLst/>
              <a:gdLst/>
              <a:ahLst/>
              <a:cxnLst/>
              <a:rect l="l" t="t" r="r" b="b"/>
              <a:pathLst>
                <a:path w="1713876" h="388354">
                  <a:moveTo>
                    <a:pt x="60675" y="0"/>
                  </a:moveTo>
                  <a:lnTo>
                    <a:pt x="1653200" y="0"/>
                  </a:lnTo>
                  <a:cubicBezTo>
                    <a:pt x="1669292" y="0"/>
                    <a:pt x="1684725" y="6393"/>
                    <a:pt x="1696104" y="17771"/>
                  </a:cubicBezTo>
                  <a:cubicBezTo>
                    <a:pt x="1707483" y="29150"/>
                    <a:pt x="1713876" y="44583"/>
                    <a:pt x="1713876" y="60675"/>
                  </a:cubicBezTo>
                  <a:lnTo>
                    <a:pt x="1713876" y="327678"/>
                  </a:lnTo>
                  <a:cubicBezTo>
                    <a:pt x="1713876" y="343771"/>
                    <a:pt x="1707483" y="359204"/>
                    <a:pt x="1696104" y="370582"/>
                  </a:cubicBezTo>
                  <a:cubicBezTo>
                    <a:pt x="1684725" y="381961"/>
                    <a:pt x="1669292" y="388354"/>
                    <a:pt x="1653200" y="388354"/>
                  </a:cubicBezTo>
                  <a:lnTo>
                    <a:pt x="60675" y="388354"/>
                  </a:lnTo>
                  <a:cubicBezTo>
                    <a:pt x="44583" y="388354"/>
                    <a:pt x="29150" y="381961"/>
                    <a:pt x="17771" y="370582"/>
                  </a:cubicBezTo>
                  <a:cubicBezTo>
                    <a:pt x="6393" y="359204"/>
                    <a:pt x="0" y="343771"/>
                    <a:pt x="0" y="327678"/>
                  </a:cubicBezTo>
                  <a:lnTo>
                    <a:pt x="0" y="60675"/>
                  </a:lnTo>
                  <a:cubicBezTo>
                    <a:pt x="0" y="44583"/>
                    <a:pt x="6393" y="29150"/>
                    <a:pt x="17771" y="17771"/>
                  </a:cubicBezTo>
                  <a:cubicBezTo>
                    <a:pt x="29150" y="6393"/>
                    <a:pt x="44583" y="0"/>
                    <a:pt x="6067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13876" cy="42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70863" y="7338548"/>
            <a:ext cx="6507372" cy="1474531"/>
            <a:chOff x="0" y="0"/>
            <a:chExt cx="1713876" cy="3883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13876" cy="388354"/>
            </a:xfrm>
            <a:custGeom>
              <a:avLst/>
              <a:gdLst/>
              <a:ahLst/>
              <a:cxnLst/>
              <a:rect l="l" t="t" r="r" b="b"/>
              <a:pathLst>
                <a:path w="1713876" h="388354">
                  <a:moveTo>
                    <a:pt x="60675" y="0"/>
                  </a:moveTo>
                  <a:lnTo>
                    <a:pt x="1653200" y="0"/>
                  </a:lnTo>
                  <a:cubicBezTo>
                    <a:pt x="1669292" y="0"/>
                    <a:pt x="1684725" y="6393"/>
                    <a:pt x="1696104" y="17771"/>
                  </a:cubicBezTo>
                  <a:cubicBezTo>
                    <a:pt x="1707483" y="29150"/>
                    <a:pt x="1713876" y="44583"/>
                    <a:pt x="1713876" y="60675"/>
                  </a:cubicBezTo>
                  <a:lnTo>
                    <a:pt x="1713876" y="327678"/>
                  </a:lnTo>
                  <a:cubicBezTo>
                    <a:pt x="1713876" y="343771"/>
                    <a:pt x="1707483" y="359204"/>
                    <a:pt x="1696104" y="370582"/>
                  </a:cubicBezTo>
                  <a:cubicBezTo>
                    <a:pt x="1684725" y="381961"/>
                    <a:pt x="1669292" y="388354"/>
                    <a:pt x="1653200" y="388354"/>
                  </a:cubicBezTo>
                  <a:lnTo>
                    <a:pt x="60675" y="388354"/>
                  </a:lnTo>
                  <a:cubicBezTo>
                    <a:pt x="44583" y="388354"/>
                    <a:pt x="29150" y="381961"/>
                    <a:pt x="17771" y="370582"/>
                  </a:cubicBezTo>
                  <a:cubicBezTo>
                    <a:pt x="6393" y="359204"/>
                    <a:pt x="0" y="343771"/>
                    <a:pt x="0" y="327678"/>
                  </a:cubicBezTo>
                  <a:lnTo>
                    <a:pt x="0" y="60675"/>
                  </a:lnTo>
                  <a:cubicBezTo>
                    <a:pt x="0" y="44583"/>
                    <a:pt x="6393" y="29150"/>
                    <a:pt x="17771" y="17771"/>
                  </a:cubicBezTo>
                  <a:cubicBezTo>
                    <a:pt x="29150" y="6393"/>
                    <a:pt x="44583" y="0"/>
                    <a:pt x="60675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713876" cy="42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784850" y="1628362"/>
            <a:ext cx="5479398" cy="53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392" lvl="1" indent="-276696" algn="l">
              <a:lnSpc>
                <a:spcPts val="4613"/>
              </a:lnSpc>
              <a:buAutoNum type="arabicPeriod"/>
            </a:pPr>
            <a:r>
              <a:rPr lang="en-US" sz="2563" b="1">
                <a:solidFill>
                  <a:srgbClr val="282626"/>
                </a:solidFill>
                <a:latin typeface="Inter Bold"/>
                <a:ea typeface="Inter Bold"/>
                <a:cs typeface="Inter Bold"/>
                <a:sym typeface="Inter Bold"/>
              </a:rPr>
              <a:t>float → Keyword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84850" y="3650515"/>
            <a:ext cx="5479398" cy="53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392" lvl="1" indent="-276696" algn="l">
              <a:lnSpc>
                <a:spcPts val="4613"/>
              </a:lnSpc>
              <a:buAutoNum type="arabicPeriod"/>
            </a:pPr>
            <a:r>
              <a:rPr lang="en-US" sz="2563" b="1">
                <a:solidFill>
                  <a:srgbClr val="282626"/>
                </a:solidFill>
                <a:latin typeface="Inter Bold"/>
                <a:ea typeface="Inter Bold"/>
                <a:cs typeface="Inter Bold"/>
                <a:sym typeface="Inter Bold"/>
              </a:rPr>
              <a:t>salary → Identifier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84850" y="5655995"/>
            <a:ext cx="5479398" cy="53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392" lvl="1" indent="-276696" algn="l">
              <a:lnSpc>
                <a:spcPts val="4613"/>
              </a:lnSpc>
              <a:buAutoNum type="arabicPeriod"/>
            </a:pPr>
            <a:r>
              <a:rPr lang="en-US" sz="2563" b="1">
                <a:solidFill>
                  <a:srgbClr val="282626"/>
                </a:solidFill>
                <a:latin typeface="Inter Bold"/>
                <a:ea typeface="Inter Bold"/>
                <a:cs typeface="Inter Bold"/>
                <a:sym typeface="Inter Bold"/>
              </a:rPr>
              <a:t>= → Operator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84850" y="7628129"/>
            <a:ext cx="5479398" cy="53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392" lvl="1" indent="-276696" algn="l">
              <a:lnSpc>
                <a:spcPts val="4613"/>
              </a:lnSpc>
              <a:buAutoNum type="arabicPeriod"/>
            </a:pPr>
            <a:r>
              <a:rPr lang="en-US" sz="2563" b="1">
                <a:solidFill>
                  <a:srgbClr val="282626"/>
                </a:solidFill>
                <a:latin typeface="Inter Bold"/>
                <a:ea typeface="Inter Bold"/>
                <a:cs typeface="Inter Bold"/>
                <a:sym typeface="Inter Bold"/>
              </a:rPr>
              <a:t>25000 → Number, ; → Delimiter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136635" y="5891988"/>
            <a:ext cx="13399778" cy="19092948"/>
          </a:xfrm>
          <a:custGeom>
            <a:avLst/>
            <a:gdLst/>
            <a:ahLst/>
            <a:cxnLst/>
            <a:rect l="l" t="t" r="r" b="b"/>
            <a:pathLst>
              <a:path w="13399778" h="19092948">
                <a:moveTo>
                  <a:pt x="0" y="0"/>
                </a:moveTo>
                <a:lnTo>
                  <a:pt x="13399778" y="0"/>
                </a:lnTo>
                <a:lnTo>
                  <a:pt x="13399778" y="19092948"/>
                </a:lnTo>
                <a:lnTo>
                  <a:pt x="0" y="19092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73166" y="-876256"/>
            <a:ext cx="19966114" cy="1904956"/>
            <a:chOff x="0" y="0"/>
            <a:chExt cx="3428706" cy="32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28706" cy="327131"/>
            </a:xfrm>
            <a:custGeom>
              <a:avLst/>
              <a:gdLst/>
              <a:ahLst/>
              <a:cxnLst/>
              <a:rect l="l" t="t" r="r" b="b"/>
              <a:pathLst>
                <a:path w="3428706" h="327131">
                  <a:moveTo>
                    <a:pt x="9306" y="0"/>
                  </a:moveTo>
                  <a:lnTo>
                    <a:pt x="3419400" y="0"/>
                  </a:lnTo>
                  <a:cubicBezTo>
                    <a:pt x="3421868" y="0"/>
                    <a:pt x="3424235" y="980"/>
                    <a:pt x="3425980" y="2726"/>
                  </a:cubicBezTo>
                  <a:cubicBezTo>
                    <a:pt x="3427726" y="4471"/>
                    <a:pt x="3428706" y="6838"/>
                    <a:pt x="3428706" y="9306"/>
                  </a:cubicBezTo>
                  <a:lnTo>
                    <a:pt x="3428706" y="317825"/>
                  </a:lnTo>
                  <a:cubicBezTo>
                    <a:pt x="3428706" y="320293"/>
                    <a:pt x="3427726" y="322660"/>
                    <a:pt x="3425980" y="324405"/>
                  </a:cubicBezTo>
                  <a:cubicBezTo>
                    <a:pt x="3424235" y="326151"/>
                    <a:pt x="3421868" y="327131"/>
                    <a:pt x="3419400" y="327131"/>
                  </a:cubicBezTo>
                  <a:lnTo>
                    <a:pt x="9306" y="327131"/>
                  </a:lnTo>
                  <a:cubicBezTo>
                    <a:pt x="6838" y="327131"/>
                    <a:pt x="4471" y="326151"/>
                    <a:pt x="2726" y="324405"/>
                  </a:cubicBezTo>
                  <a:cubicBezTo>
                    <a:pt x="980" y="322660"/>
                    <a:pt x="0" y="320293"/>
                    <a:pt x="0" y="317825"/>
                  </a:cubicBezTo>
                  <a:lnTo>
                    <a:pt x="0" y="9306"/>
                  </a:lnTo>
                  <a:cubicBezTo>
                    <a:pt x="0" y="6838"/>
                    <a:pt x="980" y="4471"/>
                    <a:pt x="2726" y="2726"/>
                  </a:cubicBezTo>
                  <a:cubicBezTo>
                    <a:pt x="4471" y="980"/>
                    <a:pt x="6838" y="0"/>
                    <a:pt x="9306" y="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428706" cy="327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72879" y="1692054"/>
            <a:ext cx="4797170" cy="105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07"/>
              </a:lnSpc>
              <a:spcBef>
                <a:spcPct val="0"/>
              </a:spcBef>
            </a:pPr>
            <a:r>
              <a:rPr lang="en-US" sz="621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Advantages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7423" y="3399006"/>
            <a:ext cx="6837411" cy="438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3060" lvl="1" indent="-236530" algn="just">
              <a:lnSpc>
                <a:spcPts val="3943"/>
              </a:lnSpc>
              <a:buFont typeface="Arial"/>
              <a:buChar char="•"/>
            </a:pPr>
            <a:r>
              <a:rPr lang="en-US" sz="2191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Lexical analysis is the first phase of a compiler.</a:t>
            </a:r>
          </a:p>
          <a:p>
            <a:pPr marL="473060" lvl="1" indent="-236530" algn="just">
              <a:lnSpc>
                <a:spcPts val="3943"/>
              </a:lnSpc>
              <a:buFont typeface="Arial"/>
              <a:buChar char="•"/>
            </a:pPr>
            <a:r>
              <a:rPr lang="en-US" sz="2191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It transforms raw source code into a structured token stream.</a:t>
            </a:r>
          </a:p>
          <a:p>
            <a:pPr marL="473060" lvl="1" indent="-236530" algn="just">
              <a:lnSpc>
                <a:spcPts val="3943"/>
              </a:lnSpc>
              <a:buFont typeface="Arial"/>
              <a:buChar char="•"/>
            </a:pPr>
            <a:r>
              <a:rPr lang="en-US" sz="2191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This process enables faster compilation by detecting invalid words early.</a:t>
            </a:r>
          </a:p>
          <a:p>
            <a:pPr marL="473060" lvl="1" indent="-236530" algn="just">
              <a:lnSpc>
                <a:spcPts val="3943"/>
              </a:lnSpc>
              <a:buFont typeface="Arial"/>
              <a:buChar char="•"/>
            </a:pPr>
            <a:r>
              <a:rPr lang="en-US" sz="2191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Lexical analysis involves removing comments and whitespace.</a:t>
            </a:r>
          </a:p>
          <a:p>
            <a:pPr marL="473060" lvl="1" indent="-236530" algn="just">
              <a:lnSpc>
                <a:spcPts val="3943"/>
              </a:lnSpc>
              <a:buFont typeface="Arial"/>
              <a:buChar char="•"/>
            </a:pPr>
            <a:r>
              <a:rPr lang="en-US" sz="2191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It creates clean token sequences for subsequent phases.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70128" y="3073904"/>
            <a:ext cx="6868749" cy="4491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9"/>
              </a:lnSpc>
            </a:pPr>
            <a:endParaRPr/>
          </a:p>
          <a:p>
            <a:pPr marL="1091259" lvl="2" indent="-363753" algn="just">
              <a:lnSpc>
                <a:spcPts val="4549"/>
              </a:lnSpc>
              <a:buFont typeface="Arial"/>
              <a:buChar char="⚬"/>
            </a:pPr>
            <a:r>
              <a:rPr lang="en-US" sz="2527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Compiler design</a:t>
            </a:r>
          </a:p>
          <a:p>
            <a:pPr marL="1091259" lvl="2" indent="-363753" algn="just">
              <a:lnSpc>
                <a:spcPts val="4549"/>
              </a:lnSpc>
              <a:buFont typeface="Arial"/>
              <a:buChar char="⚬"/>
            </a:pPr>
            <a:r>
              <a:rPr lang="en-US" sz="2527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Programming language development</a:t>
            </a:r>
          </a:p>
          <a:p>
            <a:pPr marL="1091259" lvl="2" indent="-363753" algn="just">
              <a:lnSpc>
                <a:spcPts val="4549"/>
              </a:lnSpc>
              <a:buFont typeface="Arial"/>
              <a:buChar char="⚬"/>
            </a:pPr>
            <a:r>
              <a:rPr lang="en-US" sz="2527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Modern code editors</a:t>
            </a:r>
          </a:p>
          <a:p>
            <a:pPr marL="1091259" lvl="2" indent="-363753" algn="just">
              <a:lnSpc>
                <a:spcPts val="4549"/>
              </a:lnSpc>
              <a:buFont typeface="Arial"/>
              <a:buChar char="⚬"/>
            </a:pPr>
            <a:r>
              <a:rPr lang="en-US" sz="2527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Syntax highlighting engines</a:t>
            </a:r>
          </a:p>
          <a:p>
            <a:pPr marL="1091259" lvl="2" indent="-363753" algn="just">
              <a:lnSpc>
                <a:spcPts val="4549"/>
              </a:lnSpc>
              <a:buFont typeface="Arial"/>
              <a:buChar char="⚬"/>
            </a:pPr>
            <a:r>
              <a:rPr lang="en-US" sz="2527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Static code analysis tools</a:t>
            </a:r>
          </a:p>
          <a:p>
            <a:pPr marL="1091259" lvl="2" indent="-363753" algn="just">
              <a:lnSpc>
                <a:spcPts val="4549"/>
              </a:lnSpc>
              <a:buFont typeface="Arial"/>
              <a:buChar char="⚬"/>
            </a:pPr>
            <a:r>
              <a:rPr lang="en-US" sz="2527">
                <a:solidFill>
                  <a:srgbClr val="C9A227"/>
                </a:solidFill>
                <a:latin typeface="Inter"/>
                <a:ea typeface="Inter"/>
                <a:cs typeface="Inter"/>
                <a:sym typeface="Inter"/>
              </a:rPr>
              <a:t>Integrated development environments (IDEs)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55644" y="1655923"/>
            <a:ext cx="5283233" cy="101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8"/>
              </a:lnSpc>
              <a:spcBef>
                <a:spcPct val="0"/>
              </a:spcBef>
            </a:pPr>
            <a:r>
              <a:rPr lang="en-US" sz="59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0240652" y="0"/>
            <a:ext cx="11193011" cy="15948591"/>
          </a:xfrm>
          <a:custGeom>
            <a:avLst/>
            <a:gdLst/>
            <a:ahLst/>
            <a:cxnLst/>
            <a:rect l="l" t="t" r="r" b="b"/>
            <a:pathLst>
              <a:path w="11193011" h="15948591">
                <a:moveTo>
                  <a:pt x="0" y="0"/>
                </a:moveTo>
                <a:lnTo>
                  <a:pt x="11193010" y="0"/>
                </a:lnTo>
                <a:lnTo>
                  <a:pt x="11193010" y="15948591"/>
                </a:lnTo>
                <a:lnTo>
                  <a:pt x="0" y="15948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2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8032532">
            <a:off x="17948671" y="3046987"/>
            <a:ext cx="2375953" cy="2924250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624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3145378">
            <a:off x="14850821" y="6015237"/>
            <a:ext cx="6284422" cy="8229600"/>
          </a:xfrm>
          <a:custGeom>
            <a:avLst/>
            <a:gdLst/>
            <a:ahLst/>
            <a:cxnLst/>
            <a:rect l="l" t="t" r="r" b="b"/>
            <a:pathLst>
              <a:path w="6284422" h="8229600">
                <a:moveTo>
                  <a:pt x="0" y="0"/>
                </a:moveTo>
                <a:lnTo>
                  <a:pt x="6284422" y="0"/>
                </a:lnTo>
                <a:lnTo>
                  <a:pt x="62844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145378">
            <a:off x="12694946" y="7603544"/>
            <a:ext cx="6284422" cy="8229600"/>
          </a:xfrm>
          <a:custGeom>
            <a:avLst/>
            <a:gdLst/>
            <a:ahLst/>
            <a:cxnLst/>
            <a:rect l="l" t="t" r="r" b="b"/>
            <a:pathLst>
              <a:path w="6284422" h="8229600">
                <a:moveTo>
                  <a:pt x="0" y="0"/>
                </a:moveTo>
                <a:lnTo>
                  <a:pt x="6284422" y="0"/>
                </a:lnTo>
                <a:lnTo>
                  <a:pt x="62844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7980103">
            <a:off x="15922248" y="-3413649"/>
            <a:ext cx="3620305" cy="10069647"/>
            <a:chOff x="0" y="0"/>
            <a:chExt cx="953496" cy="26520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3496" cy="2652088"/>
            </a:xfrm>
            <a:custGeom>
              <a:avLst/>
              <a:gdLst/>
              <a:ahLst/>
              <a:cxnLst/>
              <a:rect l="l" t="t" r="r" b="b"/>
              <a:pathLst>
                <a:path w="953496" h="2652088">
                  <a:moveTo>
                    <a:pt x="0" y="0"/>
                  </a:moveTo>
                  <a:lnTo>
                    <a:pt x="953496" y="0"/>
                  </a:lnTo>
                  <a:lnTo>
                    <a:pt x="953496" y="2652088"/>
                  </a:lnTo>
                  <a:lnTo>
                    <a:pt x="0" y="2652088"/>
                  </a:lnTo>
                  <a:close/>
                </a:path>
              </a:pathLst>
            </a:custGeom>
            <a:solidFill>
              <a:srgbClr val="26242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53496" cy="2690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608509"/>
            <a:ext cx="12804801" cy="360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3"/>
              </a:lnSpc>
              <a:spcBef>
                <a:spcPct val="0"/>
              </a:spcBef>
            </a:pPr>
            <a:r>
              <a:rPr lang="en-US" sz="10345" b="1">
                <a:solidFill>
                  <a:srgbClr val="EAB319"/>
                </a:solidFill>
                <a:latin typeface="Inter Bold"/>
                <a:ea typeface="Inter Bold"/>
                <a:cs typeface="Inter Bold"/>
                <a:sym typeface="Inter Bold"/>
              </a:rPr>
              <a:t>Thank you </a:t>
            </a:r>
          </a:p>
          <a:p>
            <a:pPr marL="0" lvl="0" indent="0" algn="l">
              <a:lnSpc>
                <a:spcPts val="14483"/>
              </a:lnSpc>
              <a:spcBef>
                <a:spcPct val="0"/>
              </a:spcBef>
            </a:pPr>
            <a:r>
              <a:rPr lang="en-US" sz="10345" b="1">
                <a:solidFill>
                  <a:srgbClr val="EAB319"/>
                </a:solidFill>
                <a:latin typeface="Inter Bold"/>
                <a:ea typeface="Inter Bold"/>
                <a:cs typeface="Inter Bold"/>
                <a:sym typeface="Inter Bold"/>
              </a:rPr>
              <a:t>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615</Words>
  <Application>Microsoft Office PowerPoint</Application>
  <PresentationFormat>Custom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Inter</vt:lpstr>
      <vt:lpstr>Inter Bold</vt:lpstr>
      <vt:lpstr>Calibri</vt:lpstr>
      <vt:lpstr>Arial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Analysis: First Compiler Phase</dc:title>
  <dc:creator>NITHYASHREE K</dc:creator>
  <cp:lastModifiedBy>nithya shree</cp:lastModifiedBy>
  <cp:revision>2</cp:revision>
  <dcterms:created xsi:type="dcterms:W3CDTF">2006-08-16T00:00:00Z</dcterms:created>
  <dcterms:modified xsi:type="dcterms:W3CDTF">2026-08-12T05:28:54Z</dcterms:modified>
  <dc:identifier>DAHQeXcYSS8</dc:identifier>
</cp:coreProperties>
</file>